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</p:sldIdLst>
  <p:sldSz cx="32399288" cy="43200638"/>
  <p:notesSz cx="6858000" cy="9144000"/>
  <p:defaultTextStyle>
    <a:defPPr>
      <a:defRPr lang="pt-BR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0300"/>
    <a:srgbClr val="FF5757"/>
    <a:srgbClr val="FF3030"/>
    <a:srgbClr val="004AAD"/>
    <a:srgbClr val="37B6FF"/>
    <a:srgbClr val="8C52FF"/>
    <a:srgbClr val="FF65C3"/>
    <a:srgbClr val="41719C"/>
    <a:srgbClr val="000099"/>
    <a:srgbClr val="102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59" autoAdjust="0"/>
    <p:restoredTop sz="96087" autoAdjust="0"/>
  </p:normalViewPr>
  <p:slideViewPr>
    <p:cSldViewPr snapToGrid="0">
      <p:cViewPr>
        <p:scale>
          <a:sx n="50" d="100"/>
          <a:sy n="50" d="100"/>
        </p:scale>
        <p:origin x="-499" y="-9490"/>
      </p:cViewPr>
      <p:guideLst>
        <p:guide orient="horz" pos="13606"/>
        <p:guide pos="102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97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75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18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51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75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81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952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92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1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42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258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793FE-9174-4BCA-8FC1-2C151984D1DA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02CB0-136A-46C6-A53C-3315DE620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06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12"/>
            <a:ext cx="32374935" cy="973150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EEC24DC8-A8AA-31E9-25BC-0633580E6D2A}"/>
              </a:ext>
            </a:extLst>
          </p:cNvPr>
          <p:cNvSpPr txBox="1"/>
          <p:nvPr/>
        </p:nvSpPr>
        <p:spPr>
          <a:xfrm>
            <a:off x="16345122" y="766136"/>
            <a:ext cx="15822420" cy="2585323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latin typeface="Arial Black" panose="020B0A04020102020204" pitchFamily="34" charset="0"/>
              </a:rPr>
              <a:t>POLARIS: APLICATIVO DE  MONITORAMENTO PARA </a:t>
            </a:r>
            <a:endParaRPr lang="pt-BR" sz="5400" dirty="0">
              <a:latin typeface="Arial Black" panose="020B0A04020102020204" pitchFamily="34" charset="0"/>
            </a:endParaRPr>
          </a:p>
          <a:p>
            <a:pPr algn="ctr"/>
            <a:r>
              <a:rPr lang="pt-BR" sz="5400" b="1" dirty="0">
                <a:latin typeface="Arial Black" panose="020B0A04020102020204" pitchFamily="34" charset="0"/>
              </a:rPr>
              <a:t>NEURODIVERGENTES </a:t>
            </a:r>
            <a:endParaRPr lang="pt-BR" sz="5400" dirty="0">
              <a:latin typeface="Arial Black" panose="020B0A040201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0BE8362-781E-F55B-75B9-EF75444A371D}"/>
              </a:ext>
            </a:extLst>
          </p:cNvPr>
          <p:cNvSpPr txBox="1"/>
          <p:nvPr/>
        </p:nvSpPr>
        <p:spPr>
          <a:xfrm>
            <a:off x="19076333" y="3908354"/>
            <a:ext cx="12496563" cy="3389967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dirty="0"/>
              <a:t>Clara Nogueira, Enzo Matos, </a:t>
            </a:r>
          </a:p>
          <a:p>
            <a:r>
              <a:rPr lang="pt-BR" dirty="0" err="1"/>
              <a:t>Gabryel</a:t>
            </a:r>
            <a:r>
              <a:rPr lang="pt-BR" dirty="0"/>
              <a:t> Pereira, Selma Monteiro </a:t>
            </a:r>
          </a:p>
          <a:p>
            <a:r>
              <a:rPr lang="pt-BR" dirty="0"/>
              <a:t>E Yasmin Gonçalves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0BE8362-781E-F55B-75B9-EF75444A371D}"/>
              </a:ext>
            </a:extLst>
          </p:cNvPr>
          <p:cNvSpPr txBox="1"/>
          <p:nvPr/>
        </p:nvSpPr>
        <p:spPr>
          <a:xfrm>
            <a:off x="21276794" y="7501273"/>
            <a:ext cx="6406926" cy="707886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4000" dirty="0"/>
              <a:t>Orientadora: Rebeca Furlan 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EC24DC8-A8AA-31E9-25BC-0633580E6D2A}"/>
              </a:ext>
            </a:extLst>
          </p:cNvPr>
          <p:cNvSpPr txBox="1"/>
          <p:nvPr/>
        </p:nvSpPr>
        <p:spPr>
          <a:xfrm>
            <a:off x="1118312" y="468692"/>
            <a:ext cx="13423281" cy="2123658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latin typeface="Arial Black" panose="020B0A04020102020204" pitchFamily="34" charset="0"/>
              </a:rPr>
              <a:t>Trabalho de </a:t>
            </a:r>
          </a:p>
          <a:p>
            <a:pPr algn="ctr"/>
            <a:r>
              <a:rPr lang="pt-BR" sz="6600" dirty="0">
                <a:latin typeface="Arial Black" panose="020B0A04020102020204" pitchFamily="34" charset="0"/>
              </a:rPr>
              <a:t>Conclusão de Curso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FA82F67-3523-276C-B2AA-278576E57B20}"/>
              </a:ext>
            </a:extLst>
          </p:cNvPr>
          <p:cNvCxnSpPr/>
          <p:nvPr/>
        </p:nvCxnSpPr>
        <p:spPr>
          <a:xfrm>
            <a:off x="426100" y="9752105"/>
            <a:ext cx="31401384" cy="0"/>
          </a:xfrm>
          <a:prstGeom prst="line">
            <a:avLst/>
          </a:prstGeom>
          <a:ln w="98425">
            <a:solidFill>
              <a:srgbClr val="004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BC274BA-817C-D096-1099-8F0540A508CE}"/>
              </a:ext>
            </a:extLst>
          </p:cNvPr>
          <p:cNvCxnSpPr/>
          <p:nvPr/>
        </p:nvCxnSpPr>
        <p:spPr>
          <a:xfrm>
            <a:off x="476900" y="40867105"/>
            <a:ext cx="31401384" cy="0"/>
          </a:xfrm>
          <a:prstGeom prst="line">
            <a:avLst/>
          </a:prstGeom>
          <a:ln w="98425">
            <a:solidFill>
              <a:srgbClr val="004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843C5B1-E1DC-8C26-3AC0-2A327B6C1A0C}"/>
              </a:ext>
            </a:extLst>
          </p:cNvPr>
          <p:cNvSpPr txBox="1">
            <a:spLocks/>
          </p:cNvSpPr>
          <p:nvPr/>
        </p:nvSpPr>
        <p:spPr>
          <a:xfrm>
            <a:off x="374954" y="9940107"/>
            <a:ext cx="15480000" cy="903869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75D92EF-CB95-CD39-B56B-96DFCD3580CD}"/>
              </a:ext>
            </a:extLst>
          </p:cNvPr>
          <p:cNvSpPr txBox="1">
            <a:spLocks/>
          </p:cNvSpPr>
          <p:nvPr/>
        </p:nvSpPr>
        <p:spPr>
          <a:xfrm>
            <a:off x="450225" y="21248790"/>
            <a:ext cx="15480000" cy="900000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80EB5E5-2ADB-B873-5B4A-C3A783D051D5}"/>
              </a:ext>
            </a:extLst>
          </p:cNvPr>
          <p:cNvSpPr txBox="1">
            <a:spLocks/>
          </p:cNvSpPr>
          <p:nvPr/>
        </p:nvSpPr>
        <p:spPr>
          <a:xfrm>
            <a:off x="16424203" y="9950869"/>
            <a:ext cx="15480000" cy="903869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 DISCUSSÃO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2EE557-1498-C45F-E52B-9472A816B4C4}"/>
              </a:ext>
            </a:extLst>
          </p:cNvPr>
          <p:cNvSpPr txBox="1">
            <a:spLocks/>
          </p:cNvSpPr>
          <p:nvPr/>
        </p:nvSpPr>
        <p:spPr>
          <a:xfrm>
            <a:off x="16373057" y="27997281"/>
            <a:ext cx="15480000" cy="918951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2FE4024-8F9D-7669-5F7B-DC3ACF8A1B6C}"/>
              </a:ext>
            </a:extLst>
          </p:cNvPr>
          <p:cNvSpPr txBox="1">
            <a:spLocks/>
          </p:cNvSpPr>
          <p:nvPr/>
        </p:nvSpPr>
        <p:spPr>
          <a:xfrm>
            <a:off x="16373057" y="35192874"/>
            <a:ext cx="15480000" cy="918951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58C3F61-268F-1FE5-152C-28EBCBED6F2F}"/>
              </a:ext>
            </a:extLst>
          </p:cNvPr>
          <p:cNvSpPr txBox="1"/>
          <p:nvPr/>
        </p:nvSpPr>
        <p:spPr>
          <a:xfrm>
            <a:off x="476899" y="11078652"/>
            <a:ext cx="15429201" cy="493981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O presente estudo apresenta o aplicativo </a:t>
            </a:r>
            <a:r>
              <a:rPr lang="pt-BR" sz="3500" i="1" dirty="0"/>
              <a:t>Polaris</a:t>
            </a:r>
            <a:r>
              <a:rPr lang="pt-BR" sz="3500" dirty="0"/>
              <a:t>, criado para auxiliar pessoas neurodivergentes, como aquelas com TAB, TDAH e TEA, no monitoramento do bem-estar. O aplicativo organiza dados sobre sono, tempo de tela e atividade física, ajudando o usuário a identificar padrões e a melhorar sua rotina e saúde mental.</a:t>
            </a:r>
          </a:p>
          <a:p>
            <a:pPr algn="just"/>
            <a:r>
              <a:rPr lang="pt-BR" sz="3500" dirty="0"/>
              <a:t>Com uma interface acessível e foco na privacidade, o </a:t>
            </a:r>
            <a:r>
              <a:rPr lang="pt-BR" sz="3500" i="1" dirty="0"/>
              <a:t>Polaris</a:t>
            </a:r>
            <a:r>
              <a:rPr lang="pt-BR" sz="3500" dirty="0"/>
              <a:t> também permite a geração de relatórios personalizados para profissionais de saúde.</a:t>
            </a:r>
          </a:p>
          <a:p>
            <a:pPr algn="just"/>
            <a:r>
              <a:rPr lang="pt-BR" sz="3500" dirty="0"/>
              <a:t>O projeto utiliza metodologias centradas no usuário, incluindo análise de ferramentas semelhantes, revisão bibliográfica e testes com usuários, visando ao aprimoramento contínuo da solução.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49D99AC-65F0-373D-EBD5-964AF958DE5C}"/>
              </a:ext>
            </a:extLst>
          </p:cNvPr>
          <p:cNvSpPr txBox="1">
            <a:spLocks/>
          </p:cNvSpPr>
          <p:nvPr/>
        </p:nvSpPr>
        <p:spPr>
          <a:xfrm>
            <a:off x="450225" y="29659274"/>
            <a:ext cx="15480000" cy="900000"/>
          </a:xfrm>
          <a:prstGeom prst="rect">
            <a:avLst/>
          </a:prstGeom>
          <a:solidFill>
            <a:srgbClr val="004AAD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2D671E2-8A11-E3C7-C78E-A657BD253953}"/>
              </a:ext>
            </a:extLst>
          </p:cNvPr>
          <p:cNvSpPr txBox="1"/>
          <p:nvPr/>
        </p:nvSpPr>
        <p:spPr>
          <a:xfrm>
            <a:off x="16646628" y="17840282"/>
            <a:ext cx="15257575" cy="440120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O interesse dos participantes pelo </a:t>
            </a:r>
            <a:r>
              <a:rPr lang="pt-BR" sz="3500" i="1" dirty="0"/>
              <a:t>Polaris</a:t>
            </a:r>
            <a:r>
              <a:rPr lang="pt-BR" sz="3500" dirty="0"/>
              <a:t> mostra que há um campo pouco explorado na tecnologia voltada ao monitoramento emocional e à organização pessoal. O design do aplicativo prioriza o conforto sensorial, a acessibilidade cognitiva e a proteção de dados, oferecendo notificações personalizadas e registro de humor para incentivar a autogestão e a independência.</a:t>
            </a:r>
          </a:p>
          <a:p>
            <a:pPr algn="just"/>
            <a:r>
              <a:rPr lang="pt-BR" sz="3500" dirty="0"/>
              <a:t>A maioria dos usuários afirmou que usaria ou recomendaria o aplicativo, confirmando sua aceitação e seu potencial como ferramenta inclusiva e inovadora para o bem-estar emocional.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3944005-02B0-F03E-9333-11104E41D943}"/>
              </a:ext>
            </a:extLst>
          </p:cNvPr>
          <p:cNvSpPr txBox="1"/>
          <p:nvPr/>
        </p:nvSpPr>
        <p:spPr>
          <a:xfrm>
            <a:off x="375576" y="26335287"/>
            <a:ext cx="15604028" cy="3323987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3500" dirty="0"/>
              <a:t>O Polaris também pretende preencher uma lacuna existente nos serviços de apoio psicológico, especialmente para pessoas que têm dificuldade de acesso a atendimentos especializados. Ao integrar tecnologia e saúde mental, o projeto visa promover uma forma prática e constante de cuidado, estimulando a autonomia emocional, a prevenção de crises e o desenvolvimento de hábitos saudáveis que contribuam para a melhoria da qualidade de vida.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E79EEED-9B97-E757-3CBF-6AC3F827EFD2}"/>
              </a:ext>
            </a:extLst>
          </p:cNvPr>
          <p:cNvSpPr txBox="1"/>
          <p:nvPr/>
        </p:nvSpPr>
        <p:spPr>
          <a:xfrm>
            <a:off x="550750" y="32504003"/>
            <a:ext cx="15428854" cy="4939814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Foram analisados estudos e pesquisas sobre o uso de aplicativos por pessoas neurodivergentes, além de realizadas entrevistas para identificar barreiras de acessibilidade e usabilidade no desenvolvimento do </a:t>
            </a:r>
            <a:r>
              <a:rPr lang="pt-BR" sz="3500" i="1" dirty="0"/>
              <a:t>Polaris</a:t>
            </a:r>
            <a:r>
              <a:rPr lang="pt-BR" sz="3500" dirty="0"/>
              <a:t>. Em seguida, foi criado um protótipo baseado em princípios de design inclusivo e em tecnologias acessíveis. O aplicativo passou por testes internos para avaliar sua eficiência e adequação às necessidades dos usuários. Por fim, os resultados mostraram o potencial do </a:t>
            </a:r>
            <a:r>
              <a:rPr lang="pt-BR" sz="3500" i="1" dirty="0"/>
              <a:t>Polaris</a:t>
            </a:r>
            <a:r>
              <a:rPr lang="pt-BR" sz="3500" dirty="0"/>
              <a:t> em auxiliar pessoas neurodivergentes, evidenciando seus pontos fortes, limitações e possibilidades de melhoria. A metodologia adotada uniu pesquisa teórica e prática, resultando em uma solução tecnológica voltada à inclusão.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EC2F642-EFBE-80D4-6A99-4B6C46259596}"/>
              </a:ext>
            </a:extLst>
          </p:cNvPr>
          <p:cNvSpPr txBox="1"/>
          <p:nvPr/>
        </p:nvSpPr>
        <p:spPr>
          <a:xfrm>
            <a:off x="16273314" y="29000529"/>
            <a:ext cx="15428854" cy="6017032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O estudo teve como objetivo apresentar e analisar o </a:t>
            </a:r>
            <a:r>
              <a:rPr lang="pt-BR" sz="3500" i="1" dirty="0"/>
              <a:t>Polaris</a:t>
            </a:r>
            <a:r>
              <a:rPr lang="pt-BR" sz="3500" dirty="0"/>
              <a:t>, um aplicativo voltado para pessoas neurodivergentes e focado em autonomia, bem-estar e autoconhecimento. A pesquisa realizada com usuários, familiares e profissionais das áreas da saúde e da educação revelou um alto interesse pelo projeto, destacando seu monitoramento sensível e humanizado, que respeita limites e preferências individuais, além de favorecer a comunicação com terapeutas sem comprometer a privacidade.</a:t>
            </a:r>
          </a:p>
          <a:p>
            <a:pPr algn="just"/>
            <a:r>
              <a:rPr lang="pt-BR" sz="3500" dirty="0"/>
              <a:t>Entre os desafios identificados estão a proteção de dados e a necessidade de testes contínuos para aperfeiçoar a experiência de diferentes perfis de usuários. O </a:t>
            </a:r>
            <a:r>
              <a:rPr lang="pt-BR" sz="3500" i="1" dirty="0"/>
              <a:t>Polaris</a:t>
            </a:r>
            <a:r>
              <a:rPr lang="pt-BR" sz="3500" dirty="0"/>
              <a:t> se consolida como uma iniciativa que combina tecnologia, empatia e inclusão, promovendo acompanhamento pessoal, autogestão e bem-estar.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9042ED0-6B84-8011-C482-A7EE65EE79CE}"/>
              </a:ext>
            </a:extLst>
          </p:cNvPr>
          <p:cNvSpPr txBox="1"/>
          <p:nvPr/>
        </p:nvSpPr>
        <p:spPr>
          <a:xfrm>
            <a:off x="16360396" y="36341889"/>
            <a:ext cx="15428854" cy="440120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BORGES, M. F.; SILVA, L. T. Tecnologias assistivas e inclusão de pessoas com necessidades cognitivas específicas. </a:t>
            </a:r>
            <a:r>
              <a:rPr lang="pt-BR" sz="3500" i="1" dirty="0"/>
              <a:t>Revista de Inovação em Saúde</a:t>
            </a:r>
            <a:r>
              <a:rPr lang="pt-BR" sz="3500" dirty="0"/>
              <a:t>, v. 6, n. 2, p. 55–66, 2021.</a:t>
            </a:r>
          </a:p>
          <a:p>
            <a:pPr algn="just"/>
            <a:r>
              <a:rPr lang="pt-BR" sz="3500" dirty="0"/>
              <a:t>DEL PRETTE, Z. A. P.; DEL PRETTE, A. H. H. Habilidades sociais e saúde mental: aspectos históricos e conceituais. </a:t>
            </a:r>
            <a:r>
              <a:rPr lang="pt-BR" sz="3500" i="1" dirty="0"/>
              <a:t>Psicologia: Teoria e Pesquisa</a:t>
            </a:r>
            <a:r>
              <a:rPr lang="pt-BR" sz="3500" dirty="0"/>
              <a:t>, Brasília, v. 29, n. 3, p. 271–278, 2013.</a:t>
            </a:r>
          </a:p>
          <a:p>
            <a:pPr algn="just"/>
            <a:r>
              <a:rPr lang="pt-BR" sz="3500" dirty="0"/>
              <a:t>OMS – ORGANIZAÇÃO MUNDIAL DA SAÚDE. </a:t>
            </a:r>
            <a:r>
              <a:rPr lang="pt-BR" sz="3500" i="1" dirty="0"/>
              <a:t>Relatório mundial sobre saúde mental: transformar saúde mental para todos</a:t>
            </a:r>
            <a:r>
              <a:rPr lang="pt-BR" sz="3500" dirty="0"/>
              <a:t>. Genebra: OMS, 2022.</a:t>
            </a:r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99" y="40991117"/>
            <a:ext cx="31312351" cy="205972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503" y="4976856"/>
            <a:ext cx="5981278" cy="3770353"/>
          </a:xfrm>
          <a:prstGeom prst="rect">
            <a:avLst/>
          </a:prstGeom>
        </p:spPr>
      </p:pic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628" y="41413325"/>
            <a:ext cx="3355506" cy="1299480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41756" y="41595058"/>
            <a:ext cx="4477002" cy="1014021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4E67AF63-8667-635A-BF46-35A3729B08EC}"/>
              </a:ext>
            </a:extLst>
          </p:cNvPr>
          <p:cNvSpPr txBox="1"/>
          <p:nvPr/>
        </p:nvSpPr>
        <p:spPr>
          <a:xfrm>
            <a:off x="-2454635" y="2916673"/>
            <a:ext cx="16205200" cy="1631216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pt-BR" sz="5000" dirty="0">
                <a:solidFill>
                  <a:srgbClr val="004AAD"/>
                </a:solidFill>
                <a:latin typeface="Arial Black" panose="020B0A04020102020204" pitchFamily="34" charset="0"/>
              </a:rPr>
              <a:t>Técnico em </a:t>
            </a:r>
          </a:p>
          <a:p>
            <a:pPr algn="ctr"/>
            <a:r>
              <a:rPr lang="pt-BR" sz="5000" dirty="0">
                <a:solidFill>
                  <a:srgbClr val="004AAD"/>
                </a:solidFill>
                <a:latin typeface="Arial Black" panose="020B0A04020102020204" pitchFamily="34" charset="0"/>
              </a:rPr>
              <a:t>Desenvolvimento de Sistemas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2489251-809C-A638-8678-AF2F4B936FDE}"/>
              </a:ext>
            </a:extLst>
          </p:cNvPr>
          <p:cNvSpPr txBox="1"/>
          <p:nvPr/>
        </p:nvSpPr>
        <p:spPr>
          <a:xfrm>
            <a:off x="7105561" y="32257468"/>
            <a:ext cx="2915093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/>
              <a:t>Fonte: Elaborado pelo autor (2025)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26467145-F045-730F-86BE-FECEF57859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89350" y="14611124"/>
            <a:ext cx="8584076" cy="3090268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288EAE85-4D1F-F8C0-BA63-64B70C876A12}"/>
              </a:ext>
            </a:extLst>
          </p:cNvPr>
          <p:cNvSpPr txBox="1"/>
          <p:nvPr/>
        </p:nvSpPr>
        <p:spPr>
          <a:xfrm>
            <a:off x="22188550" y="17610218"/>
            <a:ext cx="2573140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Fonte: Elaborado pelo autor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6020FDF-FDB7-EFDB-6CEB-1C637436F7CC}"/>
              </a:ext>
            </a:extLst>
          </p:cNvPr>
          <p:cNvSpPr txBox="1"/>
          <p:nvPr/>
        </p:nvSpPr>
        <p:spPr>
          <a:xfrm>
            <a:off x="20136975" y="14430291"/>
            <a:ext cx="5187639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Figura  5:  Probabilidade de usar/recomendar o aplicativo 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9F11DE1E-65E7-088B-D213-12029DC0E4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97851" y="22688663"/>
            <a:ext cx="12755127" cy="4624824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152918B2-69CC-AE3A-6AAC-2941E0DA7DC9}"/>
              </a:ext>
            </a:extLst>
          </p:cNvPr>
          <p:cNvSpPr txBox="1"/>
          <p:nvPr/>
        </p:nvSpPr>
        <p:spPr>
          <a:xfrm>
            <a:off x="22563364" y="27450528"/>
            <a:ext cx="2573140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Fonte: Elaborado pelo autor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812097-47B2-9554-6F8B-0897933257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5862" y="16018466"/>
            <a:ext cx="5161929" cy="515112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8731FAC-033C-6EBA-C16B-D49001479B07}"/>
              </a:ext>
            </a:extLst>
          </p:cNvPr>
          <p:cNvSpPr txBox="1"/>
          <p:nvPr/>
        </p:nvSpPr>
        <p:spPr>
          <a:xfrm>
            <a:off x="6411628" y="16117509"/>
            <a:ext cx="2390398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Figura 1:  Logo do projeto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58FC364-6B46-5416-1E6F-56A30A6958A3}"/>
              </a:ext>
            </a:extLst>
          </p:cNvPr>
          <p:cNvSpPr txBox="1"/>
          <p:nvPr/>
        </p:nvSpPr>
        <p:spPr>
          <a:xfrm>
            <a:off x="6014883" y="20376885"/>
            <a:ext cx="3183885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Fonte: Elaborado pelo autor (2025)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9C44482-7C3E-EA9D-C671-0ACE196665DF}"/>
              </a:ext>
            </a:extLst>
          </p:cNvPr>
          <p:cNvSpPr txBox="1"/>
          <p:nvPr/>
        </p:nvSpPr>
        <p:spPr>
          <a:xfrm>
            <a:off x="7334160" y="30521702"/>
            <a:ext cx="2048959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Figura 2: Metodologia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04E1A7A-C7C5-A59E-7125-B9F459EF3B39}"/>
              </a:ext>
            </a:extLst>
          </p:cNvPr>
          <p:cNvSpPr txBox="1"/>
          <p:nvPr/>
        </p:nvSpPr>
        <p:spPr>
          <a:xfrm>
            <a:off x="16398286" y="10794309"/>
            <a:ext cx="15257576" cy="3323987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Os resultados (cerca de 110 pessoas) mostram uma demanda crescente por tecnologias inclusivas que atendam às necessidades de pessoas neurodivergentes, destacando a importância da autonomia, da acessibilidade e da personalização da experiência do usuário (figura 4). Ferramentas digitais adaptadas podem ampliar a participação social e favorecer o desenvolvimento de habilidades de autorregulação emocional.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F73EC3E-11E7-A77F-DA69-7109C1670486}"/>
              </a:ext>
            </a:extLst>
          </p:cNvPr>
          <p:cNvSpPr txBox="1"/>
          <p:nvPr/>
        </p:nvSpPr>
        <p:spPr>
          <a:xfrm>
            <a:off x="22938177" y="22241487"/>
            <a:ext cx="1823513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Figura 6: Aplicação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D6D845-E855-F362-FB7C-C476E26664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262" y="30844867"/>
            <a:ext cx="14583692" cy="1535125"/>
          </a:xfrm>
          <a:prstGeom prst="rect">
            <a:avLst/>
          </a:prstGeom>
        </p:spPr>
      </p:pic>
      <p:sp>
        <p:nvSpPr>
          <p:cNvPr id="42" name="CaixaDeTexto 41">
            <a:extLst>
              <a:ext uri="{FF2B5EF4-FFF2-40B4-BE49-F238E27FC236}">
                <a16:creationId xmlns:a16="http://schemas.microsoft.com/office/drawing/2014/main" id="{7BBD8D5C-87E6-6B70-5CD3-DD3F5FD76A65}"/>
              </a:ext>
            </a:extLst>
          </p:cNvPr>
          <p:cNvSpPr txBox="1"/>
          <p:nvPr/>
        </p:nvSpPr>
        <p:spPr>
          <a:xfrm>
            <a:off x="400846" y="22080543"/>
            <a:ext cx="15578758" cy="440120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3500" dirty="0"/>
              <a:t>O objetivo do Projeto Polaris é auxiliar no cuidado e no acompanhamento da saúde mental por meio de um aplicativo simples, intuitivo e acessível. A proposta é oferecer uma ferramenta que ajude o usuário a registrar e monitorar o próprio humor, sintomas e hábitos diários, possibilitando a identificação de padrões e uma compreensão mais profunda sobre seu bem-estar emocional. Além de incentivar o autoconhecimento, o aplicativo busca fortalecer o vínculo entre paciente e profissional de saúde, permitindo o compartilhamento de dados que podem contribuir para um acompanhamento mais preciso e personalizado.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2FB2145-5696-D7B4-D554-262BC514BA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8493" y="37485677"/>
            <a:ext cx="7238575" cy="3294336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1A020A6B-7794-6122-9AAE-91FD916FAF81}"/>
              </a:ext>
            </a:extLst>
          </p:cNvPr>
          <p:cNvSpPr txBox="1"/>
          <p:nvPr/>
        </p:nvSpPr>
        <p:spPr>
          <a:xfrm>
            <a:off x="5614135" y="37406245"/>
            <a:ext cx="2576090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/>
              <a:t>Figura 3: Tecnologias utilizadas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7E1CB8E3-266A-49D5-8641-8B2B7D98394B}"/>
              </a:ext>
            </a:extLst>
          </p:cNvPr>
          <p:cNvSpPr txBox="1"/>
          <p:nvPr/>
        </p:nvSpPr>
        <p:spPr>
          <a:xfrm>
            <a:off x="5614135" y="40500394"/>
            <a:ext cx="2871812" cy="3231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" dirty="0"/>
              <a:t>Fonte: Elaborado pelo autor(2025)</a:t>
            </a:r>
          </a:p>
        </p:txBody>
      </p:sp>
    </p:spTree>
    <p:extLst>
      <p:ext uri="{BB962C8B-B14F-4D97-AF65-F5344CB8AC3E}">
        <p14:creationId xmlns:p14="http://schemas.microsoft.com/office/powerpoint/2010/main" val="35007149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>
          <a:glow rad="127000">
            <a:schemeClr val="bg1">
              <a:alpha val="0"/>
            </a:schemeClr>
          </a:glow>
          <a:outerShdw blurRad="50800" dist="50800" dir="5400000" algn="ctr" rotWithShape="0">
            <a:srgbClr val="000000">
              <a:alpha val="0"/>
            </a:srgbClr>
          </a:outerShdw>
        </a:effectLst>
      </a:spPr>
      <a:bodyPr wrap="square" rtlCol="0">
        <a:spAutoFit/>
      </a:bodyPr>
      <a:lstStyle>
        <a:defPPr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5f62a23-facc-4106-8858-b2aee58b9bb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0836175ECECE429BD9F08034581D7B" ma:contentTypeVersion="11" ma:contentTypeDescription="Create a new document." ma:contentTypeScope="" ma:versionID="db42ace6e4f3d3da86caab3f7e4f83d0">
  <xsd:schema xmlns:xsd="http://www.w3.org/2001/XMLSchema" xmlns:xs="http://www.w3.org/2001/XMLSchema" xmlns:p="http://schemas.microsoft.com/office/2006/metadata/properties" xmlns:ns3="45f62a23-facc-4106-8858-b2aee58b9bb0" targetNamespace="http://schemas.microsoft.com/office/2006/metadata/properties" ma:root="true" ma:fieldsID="5967753950f0b67b6e10a87e78b1e722" ns3:_="">
    <xsd:import namespace="45f62a23-facc-4106-8858-b2aee58b9bb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  <xsd:element ref="ns3:_activity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62a23-facc-4106-8858-b2aee58b9bb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BF401A-83A4-4E13-9CDD-7CB0FA787D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429E06-C29A-46EE-B226-3CAFE2796214}">
  <ds:schemaRefs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45f62a23-facc-4106-8858-b2aee58b9bb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ECB40C9-2728-46CB-A00B-C81B6B60F8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f62a23-facc-4106-8858-b2aee58b9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9812</TotalTime>
  <Words>879</Words>
  <Application>Microsoft Office PowerPoint</Application>
  <PresentationFormat>Personalizar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Leandro Pedroza</dc:creator>
  <cp:lastModifiedBy>CLARA NOGUEIRA REIS MOURA</cp:lastModifiedBy>
  <cp:revision>55</cp:revision>
  <cp:lastPrinted>2023-05-23T23:18:43Z</cp:lastPrinted>
  <dcterms:created xsi:type="dcterms:W3CDTF">2018-10-09T21:24:59Z</dcterms:created>
  <dcterms:modified xsi:type="dcterms:W3CDTF">2025-11-17T17:55:50Z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0x010100010836175ECECE429BD9F08034581D7B</vt:lpwstr>
  </property>
</Properties>
</file>