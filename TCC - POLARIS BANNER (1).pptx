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</p:sldIdLst>
  <p:sldSz cx="32399288" cy="43200638"/>
  <p:notesSz cx="6858000" cy="9144000"/>
  <p:defaultTextStyle>
    <a:defPPr>
      <a:defRPr lang="pt-BR"/>
    </a:defPPr>
    <a:lvl1pPr marL="0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1pPr>
    <a:lvl2pPr marL="1814398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2pPr>
    <a:lvl3pPr marL="3628796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3pPr>
    <a:lvl4pPr marL="5443195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4pPr>
    <a:lvl5pPr marL="7257593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5pPr>
    <a:lvl6pPr marL="9071991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6pPr>
    <a:lvl7pPr marL="10886389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7pPr>
    <a:lvl8pPr marL="12700787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8pPr>
    <a:lvl9pPr marL="14515186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6">
          <p15:clr>
            <a:srgbClr val="A4A3A4"/>
          </p15:clr>
        </p15:guide>
        <p15:guide id="2" pos="1020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0300"/>
    <a:srgbClr val="FF5757"/>
    <a:srgbClr val="FF3030"/>
    <a:srgbClr val="004AAD"/>
    <a:srgbClr val="37B6FF"/>
    <a:srgbClr val="8C52FF"/>
    <a:srgbClr val="FF65C3"/>
    <a:srgbClr val="41719C"/>
    <a:srgbClr val="000099"/>
    <a:srgbClr val="1029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59" autoAdjust="0"/>
    <p:restoredTop sz="96087" autoAdjust="0"/>
  </p:normalViewPr>
  <p:slideViewPr>
    <p:cSldViewPr snapToGrid="0">
      <p:cViewPr>
        <p:scale>
          <a:sx n="32" d="100"/>
          <a:sy n="32" d="100"/>
        </p:scale>
        <p:origin x="950" y="-1363"/>
      </p:cViewPr>
      <p:guideLst>
        <p:guide orient="horz" pos="13606"/>
        <p:guide pos="102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947" y="7070108"/>
            <a:ext cx="27539395" cy="15040222"/>
          </a:xfrm>
        </p:spPr>
        <p:txBody>
          <a:bodyPr anchor="b"/>
          <a:lstStyle>
            <a:lvl1pPr algn="ctr">
              <a:defRPr sz="2125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911" y="22690338"/>
            <a:ext cx="24299466" cy="10430151"/>
          </a:xfrm>
        </p:spPr>
        <p:txBody>
          <a:bodyPr/>
          <a:lstStyle>
            <a:lvl1pPr marL="0" indent="0" algn="ctr">
              <a:buNone/>
              <a:defRPr sz="8504"/>
            </a:lvl1pPr>
            <a:lvl2pPr marL="1619951" indent="0" algn="ctr">
              <a:buNone/>
              <a:defRPr sz="7086"/>
            </a:lvl2pPr>
            <a:lvl3pPr marL="3239902" indent="0" algn="ctr">
              <a:buNone/>
              <a:defRPr sz="6378"/>
            </a:lvl3pPr>
            <a:lvl4pPr marL="4859853" indent="0" algn="ctr">
              <a:buNone/>
              <a:defRPr sz="5669"/>
            </a:lvl4pPr>
            <a:lvl5pPr marL="6479804" indent="0" algn="ctr">
              <a:buNone/>
              <a:defRPr sz="5669"/>
            </a:lvl5pPr>
            <a:lvl6pPr marL="8099755" indent="0" algn="ctr">
              <a:buNone/>
              <a:defRPr sz="5669"/>
            </a:lvl6pPr>
            <a:lvl7pPr marL="9719706" indent="0" algn="ctr">
              <a:buNone/>
              <a:defRPr sz="5669"/>
            </a:lvl7pPr>
            <a:lvl8pPr marL="11339657" indent="0" algn="ctr">
              <a:buNone/>
              <a:defRPr sz="5669"/>
            </a:lvl8pPr>
            <a:lvl9pPr marL="12959608" indent="0" algn="ctr">
              <a:buNone/>
              <a:defRPr sz="5669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3974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1757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578" y="10770172"/>
            <a:ext cx="27944386" cy="17970262"/>
          </a:xfrm>
        </p:spPr>
        <p:txBody>
          <a:bodyPr anchor="b"/>
          <a:lstStyle>
            <a:lvl1pPr>
              <a:defRPr sz="2125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578" y="28910440"/>
            <a:ext cx="27944386" cy="9450136"/>
          </a:xfrm>
        </p:spPr>
        <p:txBody>
          <a:bodyPr/>
          <a:lstStyle>
            <a:lvl1pPr marL="0" indent="0">
              <a:buNone/>
              <a:defRPr sz="8504">
                <a:solidFill>
                  <a:schemeClr val="tx1"/>
                </a:solidFill>
              </a:defRPr>
            </a:lvl1pPr>
            <a:lvl2pPr marL="1619951" indent="0">
              <a:buNone/>
              <a:defRPr sz="7086">
                <a:solidFill>
                  <a:schemeClr val="tx1">
                    <a:tint val="75000"/>
                  </a:schemeClr>
                </a:solidFill>
              </a:defRPr>
            </a:lvl2pPr>
            <a:lvl3pPr marL="3239902" indent="0">
              <a:buNone/>
              <a:defRPr sz="6378">
                <a:solidFill>
                  <a:schemeClr val="tx1">
                    <a:tint val="75000"/>
                  </a:schemeClr>
                </a:solidFill>
              </a:defRPr>
            </a:lvl3pPr>
            <a:lvl4pPr marL="485985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4pPr>
            <a:lvl5pPr marL="6479804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5pPr>
            <a:lvl6pPr marL="8099755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6pPr>
            <a:lvl7pPr marL="971970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7pPr>
            <a:lvl8pPr marL="11339657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8pPr>
            <a:lvl9pPr marL="12959608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7183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451" y="11500170"/>
            <a:ext cx="13769697" cy="2741040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140" y="11500170"/>
            <a:ext cx="13769697" cy="2741040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3512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300044"/>
            <a:ext cx="27944386" cy="835012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675" y="15780233"/>
            <a:ext cx="13706415" cy="2321034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142" y="10590160"/>
            <a:ext cx="13773917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142" y="15780233"/>
            <a:ext cx="13773917" cy="2321034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5750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4814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9522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3917" y="6220102"/>
            <a:ext cx="16402140" cy="30700453"/>
          </a:xfrm>
        </p:spPr>
        <p:txBody>
          <a:bodyPr/>
          <a:lstStyle>
            <a:lvl1pPr>
              <a:defRPr sz="11338"/>
            </a:lvl1pPr>
            <a:lvl2pPr>
              <a:defRPr sz="9921"/>
            </a:lvl2pPr>
            <a:lvl3pPr>
              <a:defRPr sz="8504"/>
            </a:lvl3pPr>
            <a:lvl4pPr>
              <a:defRPr sz="7086"/>
            </a:lvl4pPr>
            <a:lvl5pPr>
              <a:defRPr sz="7086"/>
            </a:lvl5pPr>
            <a:lvl6pPr>
              <a:defRPr sz="7086"/>
            </a:lvl6pPr>
            <a:lvl7pPr>
              <a:defRPr sz="7086"/>
            </a:lvl7pPr>
            <a:lvl8pPr>
              <a:defRPr sz="7086"/>
            </a:lvl8pPr>
            <a:lvl9pPr>
              <a:defRPr sz="7086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6923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3917" y="6220102"/>
            <a:ext cx="16402140" cy="30700453"/>
          </a:xfrm>
        </p:spPr>
        <p:txBody>
          <a:bodyPr anchor="t"/>
          <a:lstStyle>
            <a:lvl1pPr marL="0" indent="0">
              <a:buNone/>
              <a:defRPr sz="11338"/>
            </a:lvl1pPr>
            <a:lvl2pPr marL="1619951" indent="0">
              <a:buNone/>
              <a:defRPr sz="9921"/>
            </a:lvl2pPr>
            <a:lvl3pPr marL="3239902" indent="0">
              <a:buNone/>
              <a:defRPr sz="8504"/>
            </a:lvl3pPr>
            <a:lvl4pPr marL="4859853" indent="0">
              <a:buNone/>
              <a:defRPr sz="7086"/>
            </a:lvl4pPr>
            <a:lvl5pPr marL="6479804" indent="0">
              <a:buNone/>
              <a:defRPr sz="7086"/>
            </a:lvl5pPr>
            <a:lvl6pPr marL="8099755" indent="0">
              <a:buNone/>
              <a:defRPr sz="7086"/>
            </a:lvl6pPr>
            <a:lvl7pPr marL="9719706" indent="0">
              <a:buNone/>
              <a:defRPr sz="7086"/>
            </a:lvl7pPr>
            <a:lvl8pPr marL="11339657" indent="0">
              <a:buNone/>
              <a:defRPr sz="7086"/>
            </a:lvl8pPr>
            <a:lvl9pPr marL="12959608" indent="0">
              <a:buNone/>
              <a:defRPr sz="7086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812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7427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5742" y="2300034"/>
            <a:ext cx="6986096" cy="366105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3" y="2300034"/>
            <a:ext cx="20553298" cy="36610544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2586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451" y="11500170"/>
            <a:ext cx="27944386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A793FE-9174-4BCA-8FC1-2C151984D1DA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5065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39902" rtl="0" eaLnBrk="1" latinLnBrk="0" hangingPunct="1">
        <a:lnSpc>
          <a:spcPct val="90000"/>
        </a:lnSpc>
        <a:spcBef>
          <a:spcPct val="0"/>
        </a:spcBef>
        <a:buNone/>
        <a:defRPr sz="155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9976" indent="-809976" algn="l" defTabSz="3239902" rtl="0" eaLnBrk="1" latinLnBrk="0" hangingPunct="1">
        <a:lnSpc>
          <a:spcPct val="90000"/>
        </a:lnSpc>
        <a:spcBef>
          <a:spcPts val="3543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+mn-lt"/>
          <a:ea typeface="+mn-ea"/>
          <a:cs typeface="+mn-cs"/>
        </a:defRPr>
      </a:lvl1pPr>
      <a:lvl2pPr marL="2429927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2pPr>
      <a:lvl3pPr marL="4049878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7086" kern="1200">
          <a:solidFill>
            <a:schemeClr val="tx1"/>
          </a:solidFill>
          <a:latin typeface="+mn-lt"/>
          <a:ea typeface="+mn-ea"/>
          <a:cs typeface="+mn-cs"/>
        </a:defRPr>
      </a:lvl3pPr>
      <a:lvl4pPr marL="5669829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7289780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909731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682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2149633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3769584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1pPr>
      <a:lvl2pPr marL="1619951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2pPr>
      <a:lvl3pPr marL="3239902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3pPr>
      <a:lvl4pPr marL="4859853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6479804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099755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9719706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657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2959608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412"/>
            <a:ext cx="32374935" cy="9731505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EEC24DC8-A8AA-31E9-25BC-0633580E6D2A}"/>
              </a:ext>
            </a:extLst>
          </p:cNvPr>
          <p:cNvSpPr txBox="1"/>
          <p:nvPr/>
        </p:nvSpPr>
        <p:spPr>
          <a:xfrm>
            <a:off x="16345122" y="766136"/>
            <a:ext cx="15822420" cy="2585323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5400" b="1" dirty="0">
                <a:latin typeface="Arial Black" panose="020B0A04020102020204" pitchFamily="34" charset="0"/>
              </a:rPr>
              <a:t>POLARIS: APLICATIVO DE  MONITORAMENTO PARA </a:t>
            </a:r>
            <a:endParaRPr lang="pt-BR" sz="5400" dirty="0">
              <a:latin typeface="Arial Black" panose="020B0A04020102020204" pitchFamily="34" charset="0"/>
            </a:endParaRPr>
          </a:p>
          <a:p>
            <a:pPr algn="ctr"/>
            <a:r>
              <a:rPr lang="pt-BR" sz="5400" b="1" dirty="0">
                <a:latin typeface="Arial Black" panose="020B0A04020102020204" pitchFamily="34" charset="0"/>
              </a:rPr>
              <a:t>NEURODIVERGENTES </a:t>
            </a:r>
            <a:endParaRPr lang="pt-BR" sz="5400" dirty="0">
              <a:latin typeface="Arial Black" panose="020B0A04020102020204" pitchFamily="34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0BE8362-781E-F55B-75B9-EF75444A371D}"/>
              </a:ext>
            </a:extLst>
          </p:cNvPr>
          <p:cNvSpPr txBox="1"/>
          <p:nvPr/>
        </p:nvSpPr>
        <p:spPr>
          <a:xfrm>
            <a:off x="19076333" y="3908354"/>
            <a:ext cx="12496563" cy="3389967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pt-BR" dirty="0"/>
              <a:t>Clara Nogueira, Enzo Matos, </a:t>
            </a:r>
          </a:p>
          <a:p>
            <a:r>
              <a:rPr lang="pt-BR" dirty="0" err="1"/>
              <a:t>Gabryel</a:t>
            </a:r>
            <a:r>
              <a:rPr lang="pt-BR" dirty="0"/>
              <a:t> Pereira, Selma Monteiro </a:t>
            </a:r>
          </a:p>
          <a:p>
            <a:r>
              <a:rPr lang="pt-BR" dirty="0"/>
              <a:t>E Yasmin Gonçalves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0BE8362-781E-F55B-75B9-EF75444A371D}"/>
              </a:ext>
            </a:extLst>
          </p:cNvPr>
          <p:cNvSpPr txBox="1"/>
          <p:nvPr/>
        </p:nvSpPr>
        <p:spPr>
          <a:xfrm>
            <a:off x="21276794" y="7501273"/>
            <a:ext cx="6406926" cy="707886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pt-BR" sz="4000" dirty="0"/>
              <a:t>Orientadora: Rebeca Furlan </a:t>
            </a:r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EC24DC8-A8AA-31E9-25BC-0633580E6D2A}"/>
              </a:ext>
            </a:extLst>
          </p:cNvPr>
          <p:cNvSpPr txBox="1"/>
          <p:nvPr/>
        </p:nvSpPr>
        <p:spPr>
          <a:xfrm>
            <a:off x="1118312" y="468692"/>
            <a:ext cx="13423281" cy="2123658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6600" dirty="0">
                <a:latin typeface="Arial Black" panose="020B0A04020102020204" pitchFamily="34" charset="0"/>
              </a:rPr>
              <a:t>Trabalho de </a:t>
            </a:r>
          </a:p>
          <a:p>
            <a:pPr algn="ctr"/>
            <a:r>
              <a:rPr lang="pt-BR" sz="6600" dirty="0">
                <a:latin typeface="Arial Black" panose="020B0A04020102020204" pitchFamily="34" charset="0"/>
              </a:rPr>
              <a:t>Conclusão de Curso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FA82F67-3523-276C-B2AA-278576E57B20}"/>
              </a:ext>
            </a:extLst>
          </p:cNvPr>
          <p:cNvCxnSpPr/>
          <p:nvPr/>
        </p:nvCxnSpPr>
        <p:spPr>
          <a:xfrm>
            <a:off x="426100" y="9752105"/>
            <a:ext cx="31401384" cy="0"/>
          </a:xfrm>
          <a:prstGeom prst="line">
            <a:avLst/>
          </a:prstGeom>
          <a:ln w="98425">
            <a:solidFill>
              <a:srgbClr val="004A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7BC274BA-817C-D096-1099-8F0540A508CE}"/>
              </a:ext>
            </a:extLst>
          </p:cNvPr>
          <p:cNvCxnSpPr/>
          <p:nvPr/>
        </p:nvCxnSpPr>
        <p:spPr>
          <a:xfrm>
            <a:off x="476900" y="40867105"/>
            <a:ext cx="31401384" cy="0"/>
          </a:xfrm>
          <a:prstGeom prst="line">
            <a:avLst/>
          </a:prstGeom>
          <a:ln w="98425">
            <a:solidFill>
              <a:srgbClr val="004A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843C5B1-E1DC-8C26-3AC0-2A327B6C1A0C}"/>
              </a:ext>
            </a:extLst>
          </p:cNvPr>
          <p:cNvSpPr txBox="1">
            <a:spLocks/>
          </p:cNvSpPr>
          <p:nvPr/>
        </p:nvSpPr>
        <p:spPr>
          <a:xfrm>
            <a:off x="374954" y="9940107"/>
            <a:ext cx="15480000" cy="903869"/>
          </a:xfrm>
          <a:prstGeom prst="rect">
            <a:avLst/>
          </a:prstGeom>
          <a:solidFill>
            <a:srgbClr val="004AAD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INTRODUÇÃO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75D92EF-CB95-CD39-B56B-96DFCD3580CD}"/>
              </a:ext>
            </a:extLst>
          </p:cNvPr>
          <p:cNvSpPr txBox="1">
            <a:spLocks/>
          </p:cNvSpPr>
          <p:nvPr/>
        </p:nvSpPr>
        <p:spPr>
          <a:xfrm>
            <a:off x="593067" y="23272550"/>
            <a:ext cx="15480000" cy="900000"/>
          </a:xfrm>
          <a:prstGeom prst="rect">
            <a:avLst/>
          </a:prstGeom>
          <a:solidFill>
            <a:srgbClr val="004AAD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OBJETIVO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80EB5E5-2ADB-B873-5B4A-C3A783D051D5}"/>
              </a:ext>
            </a:extLst>
          </p:cNvPr>
          <p:cNvSpPr txBox="1">
            <a:spLocks/>
          </p:cNvSpPr>
          <p:nvPr/>
        </p:nvSpPr>
        <p:spPr>
          <a:xfrm>
            <a:off x="16424203" y="9950869"/>
            <a:ext cx="15480000" cy="903869"/>
          </a:xfrm>
          <a:prstGeom prst="rect">
            <a:avLst/>
          </a:prstGeom>
          <a:solidFill>
            <a:srgbClr val="004AAD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RESULTADOS E DISCUSSÃO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02EE557-1498-C45F-E52B-9472A816B4C4}"/>
              </a:ext>
            </a:extLst>
          </p:cNvPr>
          <p:cNvSpPr txBox="1">
            <a:spLocks/>
          </p:cNvSpPr>
          <p:nvPr/>
        </p:nvSpPr>
        <p:spPr>
          <a:xfrm>
            <a:off x="16373057" y="27997281"/>
            <a:ext cx="15480000" cy="918951"/>
          </a:xfrm>
          <a:prstGeom prst="rect">
            <a:avLst/>
          </a:prstGeom>
          <a:solidFill>
            <a:srgbClr val="004AAD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2FE4024-8F9D-7669-5F7B-DC3ACF8A1B6C}"/>
              </a:ext>
            </a:extLst>
          </p:cNvPr>
          <p:cNvSpPr txBox="1">
            <a:spLocks/>
          </p:cNvSpPr>
          <p:nvPr/>
        </p:nvSpPr>
        <p:spPr>
          <a:xfrm>
            <a:off x="16373057" y="35192874"/>
            <a:ext cx="15480000" cy="918951"/>
          </a:xfrm>
          <a:prstGeom prst="rect">
            <a:avLst/>
          </a:prstGeom>
          <a:solidFill>
            <a:srgbClr val="004AAD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REFERÊNCIAS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58C3F61-268F-1FE5-152C-28EBCBED6F2F}"/>
              </a:ext>
            </a:extLst>
          </p:cNvPr>
          <p:cNvSpPr txBox="1"/>
          <p:nvPr/>
        </p:nvSpPr>
        <p:spPr>
          <a:xfrm>
            <a:off x="476899" y="11078652"/>
            <a:ext cx="15429201" cy="4939814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pt-BR" sz="3500" dirty="0"/>
              <a:t>O presente estudo apresenta o aplicativo </a:t>
            </a:r>
            <a:r>
              <a:rPr lang="pt-BR" sz="3500" i="1" dirty="0"/>
              <a:t>Polaris</a:t>
            </a:r>
            <a:r>
              <a:rPr lang="pt-BR" sz="3500" dirty="0"/>
              <a:t>, criado para auxiliar pessoas neurodivergentes, como aquelas com TAB, TDAH e TEA, no monitoramento do bem-estar. O aplicativo organiza dados sobre sono, tempo de tela e atividade física, ajudando o usuário a identificar padrões e a melhorar sua rotina e saúde mental.</a:t>
            </a:r>
          </a:p>
          <a:p>
            <a:pPr algn="just"/>
            <a:r>
              <a:rPr lang="pt-BR" sz="3500" dirty="0"/>
              <a:t>Com uma interface acessível e foco na privacidade, o </a:t>
            </a:r>
            <a:r>
              <a:rPr lang="pt-BR" sz="3500" i="1" dirty="0"/>
              <a:t>Polaris</a:t>
            </a:r>
            <a:r>
              <a:rPr lang="pt-BR" sz="3500" dirty="0"/>
              <a:t> também permite a geração de relatórios personalizados para profissionais de saúde.</a:t>
            </a:r>
          </a:p>
          <a:p>
            <a:pPr algn="just"/>
            <a:r>
              <a:rPr lang="pt-BR" sz="3500" dirty="0"/>
              <a:t>O projeto utiliza metodologias centradas no usuário, incluindo análise de ferramentas semelhantes, revisão bibliográfica e testes com usuários, visando ao aprimoramento contínuo da solução.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49D99AC-65F0-373D-EBD5-964AF958DE5C}"/>
              </a:ext>
            </a:extLst>
          </p:cNvPr>
          <p:cNvSpPr txBox="1">
            <a:spLocks/>
          </p:cNvSpPr>
          <p:nvPr/>
        </p:nvSpPr>
        <p:spPr>
          <a:xfrm>
            <a:off x="476899" y="32009045"/>
            <a:ext cx="15480000" cy="900000"/>
          </a:xfrm>
          <a:prstGeom prst="rect">
            <a:avLst/>
          </a:prstGeom>
          <a:solidFill>
            <a:srgbClr val="004AAD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METODOLOGIA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2D671E2-8A11-E3C7-C78E-A657BD253953}"/>
              </a:ext>
            </a:extLst>
          </p:cNvPr>
          <p:cNvSpPr txBox="1"/>
          <p:nvPr/>
        </p:nvSpPr>
        <p:spPr>
          <a:xfrm>
            <a:off x="16646628" y="17840282"/>
            <a:ext cx="15257575" cy="4401205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pt-BR" sz="3500" dirty="0"/>
              <a:t>O interesse dos participantes pelo </a:t>
            </a:r>
            <a:r>
              <a:rPr lang="pt-BR" sz="3500" i="1" dirty="0"/>
              <a:t>Polaris</a:t>
            </a:r>
            <a:r>
              <a:rPr lang="pt-BR" sz="3500" dirty="0"/>
              <a:t> mostra que há um campo pouco explorado na tecnologia voltada ao monitoramento emocional e à organização pessoal. O design do aplicativo prioriza o conforto sensorial, a acessibilidade cognitiva e a proteção de dados, oferecendo notificações personalizadas e registro de humor para incentivar a autogestão e a independência.</a:t>
            </a:r>
          </a:p>
          <a:p>
            <a:pPr algn="just"/>
            <a:r>
              <a:rPr lang="pt-BR" sz="3500" dirty="0"/>
              <a:t>A maioria dos usuários afirmou que usaria ou recomendaria o aplicativo, confirmando sua aceitação e seu potencial como ferramenta inclusiva e inovadora para o bem-estar emocional.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3944005-02B0-F03E-9333-11104E41D943}"/>
              </a:ext>
            </a:extLst>
          </p:cNvPr>
          <p:cNvSpPr txBox="1"/>
          <p:nvPr/>
        </p:nvSpPr>
        <p:spPr>
          <a:xfrm>
            <a:off x="521947" y="28623052"/>
            <a:ext cx="15604028" cy="3323987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3500" dirty="0"/>
              <a:t>O Polaris também pretende preencher uma lacuna existente nos serviços de apoio psicológico, especialmente para pessoas que têm dificuldade de acesso a atendimentos especializados. Ao integrar tecnologia e saúde mental, o projeto visa promover uma forma prática e constante de cuidado, estimulando a autonomia emocional, a prevenção de crises e o desenvolvimento de hábitos saudáveis que contribuam para a melhoria da qualidade de vida.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4E79EEED-9B97-E757-3CBF-6AC3F827EFD2}"/>
              </a:ext>
            </a:extLst>
          </p:cNvPr>
          <p:cNvSpPr txBox="1"/>
          <p:nvPr/>
        </p:nvSpPr>
        <p:spPr>
          <a:xfrm>
            <a:off x="644213" y="35418611"/>
            <a:ext cx="15428854" cy="4939814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pt-BR" sz="3500" dirty="0"/>
              <a:t>Foram analisados estudos e pesquisas sobre o uso de aplicativos por pessoas neurodivergentes, além de realizadas entrevistas para identificar barreiras de acessibilidade e usabilidade no desenvolvimento do </a:t>
            </a:r>
            <a:r>
              <a:rPr lang="pt-BR" sz="3500" i="1" dirty="0"/>
              <a:t>Polaris</a:t>
            </a:r>
            <a:r>
              <a:rPr lang="pt-BR" sz="3500" dirty="0"/>
              <a:t>. Em seguida, foi criado um protótipo baseado em princípios de design inclusivo e em tecnologias acessíveis. O aplicativo passou por testes internos para avaliar sua eficiência e adequação às necessidades dos usuários. Por fim, os resultados mostraram o potencial do </a:t>
            </a:r>
            <a:r>
              <a:rPr lang="pt-BR" sz="3500" i="1" dirty="0"/>
              <a:t>Polaris</a:t>
            </a:r>
            <a:r>
              <a:rPr lang="pt-BR" sz="3500" dirty="0"/>
              <a:t> em auxiliar pessoas neurodivergentes, evidenciando seus pontos fortes, limitações e possibilidades de melhoria. A metodologia adotada uniu pesquisa teórica e prática, resultando em uma solução tecnológica voltada à inclusão.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AEC2F642-EFBE-80D4-6A99-4B6C46259596}"/>
              </a:ext>
            </a:extLst>
          </p:cNvPr>
          <p:cNvSpPr txBox="1"/>
          <p:nvPr/>
        </p:nvSpPr>
        <p:spPr>
          <a:xfrm>
            <a:off x="16273314" y="29000529"/>
            <a:ext cx="15428854" cy="6017032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pt-BR" sz="3500" dirty="0"/>
              <a:t>O estudo teve como objetivo apresentar e analisar o </a:t>
            </a:r>
            <a:r>
              <a:rPr lang="pt-BR" sz="3500" i="1" dirty="0"/>
              <a:t>Polaris</a:t>
            </a:r>
            <a:r>
              <a:rPr lang="pt-BR" sz="3500" dirty="0"/>
              <a:t>, um aplicativo voltado para pessoas neurodivergentes e focado em autonomia, bem-estar e autoconhecimento. A pesquisa realizada com usuários, familiares e profissionais das áreas da saúde e da educação revelou um alto interesse pelo projeto, destacando seu monitoramento sensível e humanizado, que respeita limites e preferências individuais, além de favorecer a comunicação com terapeutas sem comprometer a privacidade.</a:t>
            </a:r>
          </a:p>
          <a:p>
            <a:pPr algn="just"/>
            <a:r>
              <a:rPr lang="pt-BR" sz="3500" dirty="0"/>
              <a:t>Entre os desafios identificados estão a proteção de dados e a necessidade de testes contínuos para aperfeiçoar a experiência de diferentes perfis de usuários. O </a:t>
            </a:r>
            <a:r>
              <a:rPr lang="pt-BR" sz="3500" i="1" dirty="0"/>
              <a:t>Polaris</a:t>
            </a:r>
            <a:r>
              <a:rPr lang="pt-BR" sz="3500" dirty="0"/>
              <a:t> se consolida como uma iniciativa que combina tecnologia, empatia e inclusão, promovendo acompanhamento pessoal, autogestão e bem-estar.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9042ED0-6B84-8011-C482-A7EE65EE79CE}"/>
              </a:ext>
            </a:extLst>
          </p:cNvPr>
          <p:cNvSpPr txBox="1"/>
          <p:nvPr/>
        </p:nvSpPr>
        <p:spPr>
          <a:xfrm>
            <a:off x="16360396" y="36341889"/>
            <a:ext cx="15428854" cy="4401205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pt-BR" sz="3500" dirty="0"/>
              <a:t>BORGES, M. F.; SILVA, L. T. Tecnologias assistivas e inclusão de pessoas com necessidades cognitivas específicas. </a:t>
            </a:r>
            <a:r>
              <a:rPr lang="pt-BR" sz="3500" i="1" dirty="0"/>
              <a:t>Revista de Inovação em Saúde</a:t>
            </a:r>
            <a:r>
              <a:rPr lang="pt-BR" sz="3500" dirty="0"/>
              <a:t>, v. 6, n. 2, p. 55–66, 2021.</a:t>
            </a:r>
          </a:p>
          <a:p>
            <a:pPr algn="just"/>
            <a:r>
              <a:rPr lang="pt-BR" sz="3500" dirty="0"/>
              <a:t>DEL PRETTE, Z. A. P.; DEL PRETTE, A. H. H. Habilidades sociais e saúde mental: aspectos históricos e conceituais. </a:t>
            </a:r>
            <a:r>
              <a:rPr lang="pt-BR" sz="3500" i="1" dirty="0"/>
              <a:t>Psicologia: Teoria e Pesquisa</a:t>
            </a:r>
            <a:r>
              <a:rPr lang="pt-BR" sz="3500" dirty="0"/>
              <a:t>, Brasília, v. 29, n. 3, p. 271–278, 2013.</a:t>
            </a:r>
          </a:p>
          <a:p>
            <a:pPr algn="just"/>
            <a:r>
              <a:rPr lang="pt-BR" sz="3500" dirty="0"/>
              <a:t>OMS – ORGANIZAÇÃO MUNDIAL DA SAÚDE. </a:t>
            </a:r>
            <a:r>
              <a:rPr lang="pt-BR" sz="3500" i="1" dirty="0"/>
              <a:t>Relatório mundial sobre saúde mental: transformar saúde mental para todos</a:t>
            </a:r>
            <a:r>
              <a:rPr lang="pt-BR" sz="3500" dirty="0"/>
              <a:t>. Genebra: OMS, 2022.</a:t>
            </a:r>
          </a:p>
        </p:txBody>
      </p:sp>
      <p:pic>
        <p:nvPicPr>
          <p:cNvPr id="28" name="Imagem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99" y="40991117"/>
            <a:ext cx="31312351" cy="2059729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503" y="4976856"/>
            <a:ext cx="5981278" cy="3770353"/>
          </a:xfrm>
          <a:prstGeom prst="rect">
            <a:avLst/>
          </a:prstGeom>
        </p:spPr>
      </p:pic>
      <p:pic>
        <p:nvPicPr>
          <p:cNvPr id="29" name="Imagem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628" y="41413325"/>
            <a:ext cx="3355506" cy="1299480"/>
          </a:xfrm>
          <a:prstGeom prst="rect">
            <a:avLst/>
          </a:prstGeom>
        </p:spPr>
      </p:pic>
      <p:pic>
        <p:nvPicPr>
          <p:cNvPr id="30" name="Imagem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41756" y="41595058"/>
            <a:ext cx="4477002" cy="1014021"/>
          </a:xfrm>
          <a:prstGeom prst="rect">
            <a:avLst/>
          </a:prstGeom>
        </p:spPr>
      </p:pic>
      <p:sp>
        <p:nvSpPr>
          <p:cNvPr id="31" name="CaixaDeTexto 30">
            <a:extLst>
              <a:ext uri="{FF2B5EF4-FFF2-40B4-BE49-F238E27FC236}">
                <a16:creationId xmlns:a16="http://schemas.microsoft.com/office/drawing/2014/main" id="{4E67AF63-8667-635A-BF46-35A3729B08EC}"/>
              </a:ext>
            </a:extLst>
          </p:cNvPr>
          <p:cNvSpPr txBox="1"/>
          <p:nvPr/>
        </p:nvSpPr>
        <p:spPr>
          <a:xfrm>
            <a:off x="-2454635" y="2916673"/>
            <a:ext cx="16205200" cy="1631216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pt-BR" sz="5000" dirty="0">
                <a:solidFill>
                  <a:srgbClr val="004AAD"/>
                </a:solidFill>
                <a:latin typeface="Arial Black" panose="020B0A04020102020204" pitchFamily="34" charset="0"/>
              </a:rPr>
              <a:t>Técnico em </a:t>
            </a:r>
          </a:p>
          <a:p>
            <a:pPr algn="ctr"/>
            <a:r>
              <a:rPr lang="pt-BR" sz="5000" dirty="0">
                <a:solidFill>
                  <a:srgbClr val="004AAD"/>
                </a:solidFill>
                <a:latin typeface="Arial Black" panose="020B0A04020102020204" pitchFamily="34" charset="0"/>
              </a:rPr>
              <a:t>Desenvolvimento de Sistemas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2489251-809C-A638-8678-AF2F4B936FDE}"/>
              </a:ext>
            </a:extLst>
          </p:cNvPr>
          <p:cNvSpPr txBox="1"/>
          <p:nvPr/>
        </p:nvSpPr>
        <p:spPr>
          <a:xfrm>
            <a:off x="6611401" y="34911592"/>
            <a:ext cx="2915093" cy="323165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pt-BR" sz="1500" dirty="0"/>
              <a:t>Fonte: Elaborado pelo autor (2025)</a:t>
            </a:r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26467145-F045-730F-86BE-FECEF57859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46139" y="14473332"/>
            <a:ext cx="8584076" cy="3090268"/>
          </a:xfrm>
          <a:prstGeom prst="rect">
            <a:avLst/>
          </a:prstGeom>
        </p:spPr>
      </p:pic>
      <p:sp>
        <p:nvSpPr>
          <p:cNvPr id="34" name="CaixaDeTexto 33">
            <a:extLst>
              <a:ext uri="{FF2B5EF4-FFF2-40B4-BE49-F238E27FC236}">
                <a16:creationId xmlns:a16="http://schemas.microsoft.com/office/drawing/2014/main" id="{288EAE85-4D1F-F8C0-BA63-64B70C876A12}"/>
              </a:ext>
            </a:extLst>
          </p:cNvPr>
          <p:cNvSpPr txBox="1"/>
          <p:nvPr/>
        </p:nvSpPr>
        <p:spPr>
          <a:xfrm>
            <a:off x="22188550" y="17503151"/>
            <a:ext cx="2573140" cy="323165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Fonte: Elaborado pelo autor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E6020FDF-FDB7-EFDB-6CEB-1C637436F7CC}"/>
              </a:ext>
            </a:extLst>
          </p:cNvPr>
          <p:cNvSpPr txBox="1"/>
          <p:nvPr/>
        </p:nvSpPr>
        <p:spPr>
          <a:xfrm>
            <a:off x="20143530" y="14057895"/>
            <a:ext cx="5187639" cy="323165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Figura  2:  Probabilidade de usar/recomendar o aplicativo </a:t>
            </a:r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9F11DE1E-65E7-088B-D213-12029DC0E4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97851" y="22688663"/>
            <a:ext cx="12755127" cy="4624824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152918B2-69CC-AE3A-6AAC-2941E0DA7DC9}"/>
              </a:ext>
            </a:extLst>
          </p:cNvPr>
          <p:cNvSpPr txBox="1"/>
          <p:nvPr/>
        </p:nvSpPr>
        <p:spPr>
          <a:xfrm>
            <a:off x="22563364" y="27450528"/>
            <a:ext cx="2573140" cy="323165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Fonte: Elaborado pelo autor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D812097-47B2-9554-6F8B-0897933257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5205" y="16018466"/>
            <a:ext cx="7170043" cy="7155041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18731FAC-033C-6EBA-C16B-D49001479B07}"/>
              </a:ext>
            </a:extLst>
          </p:cNvPr>
          <p:cNvSpPr txBox="1"/>
          <p:nvPr/>
        </p:nvSpPr>
        <p:spPr>
          <a:xfrm>
            <a:off x="6411628" y="16117509"/>
            <a:ext cx="2390398" cy="323165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Figura 1:  Logo do projeto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A58FC364-6B46-5416-1E6F-56A30A6958A3}"/>
              </a:ext>
            </a:extLst>
          </p:cNvPr>
          <p:cNvSpPr txBox="1"/>
          <p:nvPr/>
        </p:nvSpPr>
        <p:spPr>
          <a:xfrm>
            <a:off x="6411628" y="22935242"/>
            <a:ext cx="3183885" cy="323165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Fonte: Elaborado pelo autor (2025)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D9C44482-7C3E-EA9D-C671-0ACE196665DF}"/>
              </a:ext>
            </a:extLst>
          </p:cNvPr>
          <p:cNvSpPr txBox="1"/>
          <p:nvPr/>
        </p:nvSpPr>
        <p:spPr>
          <a:xfrm>
            <a:off x="7165746" y="32880219"/>
            <a:ext cx="2048959" cy="323165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Figura 2: Metodologia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304E1A7A-C7C5-A59E-7125-B9F459EF3B39}"/>
              </a:ext>
            </a:extLst>
          </p:cNvPr>
          <p:cNvSpPr txBox="1"/>
          <p:nvPr/>
        </p:nvSpPr>
        <p:spPr>
          <a:xfrm>
            <a:off x="16373057" y="11072681"/>
            <a:ext cx="15283148" cy="2785378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pt-BR" sz="3500" dirty="0"/>
              <a:t>Os resultados mostram uma demanda crescente por tecnologias inclusivas que atendam às necessidades de pessoas neurodivergentes, destacando a importância da autonomia, da acessibilidade e da personalização da experiência do usuário. Ferramentas digitais adaptadas podem ampliar a participação social e favorecer o desenvolvimento de habilidades de autorregulação emocional.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4F73EC3E-11E7-A77F-DA69-7109C1670486}"/>
              </a:ext>
            </a:extLst>
          </p:cNvPr>
          <p:cNvSpPr txBox="1"/>
          <p:nvPr/>
        </p:nvSpPr>
        <p:spPr>
          <a:xfrm>
            <a:off x="22938177" y="22241487"/>
            <a:ext cx="1823513" cy="323165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Figura 4: Aplicação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9D6D845-E855-F362-FB7C-C476E266644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954" y="33203384"/>
            <a:ext cx="15836421" cy="1666991"/>
          </a:xfrm>
          <a:prstGeom prst="rect">
            <a:avLst/>
          </a:prstGeom>
        </p:spPr>
      </p:pic>
      <p:sp>
        <p:nvSpPr>
          <p:cNvPr id="42" name="CaixaDeTexto 41">
            <a:extLst>
              <a:ext uri="{FF2B5EF4-FFF2-40B4-BE49-F238E27FC236}">
                <a16:creationId xmlns:a16="http://schemas.microsoft.com/office/drawing/2014/main" id="{7BBD8D5C-87E6-6B70-5CD3-DD3F5FD76A65}"/>
              </a:ext>
            </a:extLst>
          </p:cNvPr>
          <p:cNvSpPr txBox="1"/>
          <p:nvPr/>
        </p:nvSpPr>
        <p:spPr>
          <a:xfrm>
            <a:off x="548034" y="24411373"/>
            <a:ext cx="15578758" cy="4401205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pt-BR" sz="3500" dirty="0"/>
              <a:t>O objetivo do Projeto Polaris é auxiliar no cuidado e no acompanhamento da saúde mental por meio de um aplicativo simples, intuitivo e acessível. A proposta é oferecer uma ferramenta que ajude o usuário a registrar e monitorar o próprio humor, sintomas e hábitos diários, possibilitando a identificação de padrões e uma compreensão mais profunda sobre seu bem-estar emocional. Além de incentivar o autoconhecimento, o aplicativo busca fortalecer o vínculo entre paciente e profissional de saúde, permitindo o compartilhamento de dados que podem contribuir para um acompanhamento mais preciso e personalizado.</a:t>
            </a:r>
          </a:p>
        </p:txBody>
      </p:sp>
    </p:spTree>
    <p:extLst>
      <p:ext uri="{BB962C8B-B14F-4D97-AF65-F5344CB8AC3E}">
        <p14:creationId xmlns:p14="http://schemas.microsoft.com/office/powerpoint/2010/main" val="35007149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effectLst>
          <a:glow rad="127000">
            <a:schemeClr val="bg1">
              <a:alpha val="0"/>
            </a:schemeClr>
          </a:glow>
          <a:outerShdw blurRad="50800" dist="50800" dir="5400000" algn="ctr" rotWithShape="0">
            <a:srgbClr val="000000">
              <a:alpha val="0"/>
            </a:srgbClr>
          </a:outerShdw>
        </a:effectLst>
      </a:spPr>
      <a:bodyPr wrap="square" rtlCol="0">
        <a:spAutoFit/>
      </a:bodyPr>
      <a:lstStyle>
        <a:defPPr>
          <a:defRPr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1B83614C687B42AE52FF0C4A6228CF" ma:contentTypeVersion="3" ma:contentTypeDescription="Create a new document." ma:contentTypeScope="" ma:versionID="fb24e4b3a21e6a4407a7e1a306f5eb04">
  <xsd:schema xmlns:xsd="http://www.w3.org/2001/XMLSchema" xmlns:xs="http://www.w3.org/2001/XMLSchema" xmlns:p="http://schemas.microsoft.com/office/2006/metadata/properties" xmlns:ns2="6e747b62-d86a-4d2b-a9b9-29bada85a464" targetNamespace="http://schemas.microsoft.com/office/2006/metadata/properties" ma:root="true" ma:fieldsID="18bb9da979aecc58f933173ff2f8fb91" ns2:_="">
    <xsd:import namespace="6e747b62-d86a-4d2b-a9b9-29bada85a46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747b62-d86a-4d2b-a9b9-29bada85a4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B429E06-C29A-46EE-B226-3CAFE2796214}">
  <ds:schemaRefs>
    <ds:schemaRef ds:uri="http://purl.org/dc/terms/"/>
    <ds:schemaRef ds:uri="http://schemas.microsoft.com/office/2006/documentManagement/types"/>
    <ds:schemaRef ds:uri="http://www.w3.org/XML/1998/namespace"/>
    <ds:schemaRef ds:uri="http://purl.org/dc/dcmitype/"/>
    <ds:schemaRef ds:uri="a304d6a4-175e-4195-9be0-72c37afd14cc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63BF401A-83A4-4E13-9CDD-7CB0FA787D7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B50B15B-6B6C-413D-85DF-3989BC7358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e747b62-d86a-4d2b-a9b9-29bada85a46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9791</TotalTime>
  <Words>857</Words>
  <Application>Microsoft Office PowerPoint</Application>
  <PresentationFormat>Personalizar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Black</vt:lpstr>
      <vt:lpstr>Calibri</vt:lpstr>
      <vt:lpstr>Calibri Light</vt:lpstr>
      <vt:lpstr>Times New Roman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Leandro Pedroza</dc:creator>
  <cp:lastModifiedBy>CLARA NOGUEIRA REIS MOURA</cp:lastModifiedBy>
  <cp:revision>54</cp:revision>
  <cp:lastPrinted>2023-05-23T23:18:43Z</cp:lastPrinted>
  <dcterms:created xsi:type="dcterms:W3CDTF">2018-10-09T21:24:59Z</dcterms:created>
  <dcterms:modified xsi:type="dcterms:W3CDTF">2025-11-16T00:27:46Z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0x010100EC1B83614C687B42AE52FF0C4A6228CF</vt:lpwstr>
  </property>
</Properties>
</file>