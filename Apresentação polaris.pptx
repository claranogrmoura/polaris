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mo" panose="020B0604020202020204" charset="0"/>
      <p:regular r:id="rId19"/>
    </p:embeddedFont>
    <p:embeddedFont>
      <p:font typeface="Arimo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594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olarishealth.netlify.app/auth/login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oogle.com/forms/d/e/1FAIpQLSfIf12AZBfcqmwASQ4t095ZopDgJYD2Rogi-2RdHr--D1zrHw/viewform?usp=header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github.com/claranogrmoura/Polaris?classId=5b1b160a-1520-4744-bac9-7a41564ea129&amp;assignmentId=f2d776c3-40bc-4f1e-8b59-aa12df22a258&amp;submissionId=52523479-b0ff-5b38-b72c-f6b7d6513f3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50532" y="-3086100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-1534016" y="2872546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4"/>
                </a:lnTo>
                <a:lnTo>
                  <a:pt x="0" y="9134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Freeform 4"/>
          <p:cNvSpPr/>
          <p:nvPr/>
        </p:nvSpPr>
        <p:spPr>
          <a:xfrm>
            <a:off x="4266034" y="1028700"/>
            <a:ext cx="8761934" cy="8229600"/>
          </a:xfrm>
          <a:custGeom>
            <a:avLst/>
            <a:gdLst/>
            <a:ahLst/>
            <a:cxnLst/>
            <a:rect l="l" t="t" r="r" b="b"/>
            <a:pathLst>
              <a:path w="8761934" h="8229600">
                <a:moveTo>
                  <a:pt x="0" y="0"/>
                </a:moveTo>
                <a:lnTo>
                  <a:pt x="8761934" y="0"/>
                </a:lnTo>
                <a:lnTo>
                  <a:pt x="87619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57294" y="3010972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2" y="0"/>
                </a:lnTo>
                <a:lnTo>
                  <a:pt x="8061412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-3652566" y="-5002170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Freeform 4"/>
          <p:cNvSpPr/>
          <p:nvPr/>
        </p:nvSpPr>
        <p:spPr>
          <a:xfrm>
            <a:off x="17068884" y="8962973"/>
            <a:ext cx="1307944" cy="1228480"/>
          </a:xfrm>
          <a:custGeom>
            <a:avLst/>
            <a:gdLst/>
            <a:ahLst/>
            <a:cxnLst/>
            <a:rect l="l" t="t" r="r" b="b"/>
            <a:pathLst>
              <a:path w="1307944" h="1228480">
                <a:moveTo>
                  <a:pt x="0" y="0"/>
                </a:moveTo>
                <a:lnTo>
                  <a:pt x="1307944" y="0"/>
                </a:lnTo>
                <a:lnTo>
                  <a:pt x="1307944" y="1228480"/>
                </a:lnTo>
                <a:lnTo>
                  <a:pt x="0" y="1228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/>
          <p:cNvGrpSpPr/>
          <p:nvPr/>
        </p:nvGrpSpPr>
        <p:grpSpPr>
          <a:xfrm>
            <a:off x="1195715" y="2386924"/>
            <a:ext cx="7775289" cy="6390052"/>
            <a:chOff x="0" y="0"/>
            <a:chExt cx="10367051" cy="8520069"/>
          </a:xfrm>
        </p:grpSpPr>
        <p:sp>
          <p:nvSpPr>
            <p:cNvPr id="6" name="TextBox 6"/>
            <p:cNvSpPr txBox="1"/>
            <p:nvPr/>
          </p:nvSpPr>
          <p:spPr>
            <a:xfrm>
              <a:off x="0" y="-142875"/>
              <a:ext cx="10120128" cy="1352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371"/>
                </a:lnSpc>
                <a:spcBef>
                  <a:spcPct val="0"/>
                </a:spcBef>
              </a:pPr>
              <a:r>
                <a:rPr lang="en-US" sz="5979" b="1" dirty="0">
                  <a:solidFill>
                    <a:srgbClr val="6D12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Nome dos </a:t>
              </a:r>
              <a:r>
                <a:rPr lang="en-US" sz="5979" b="1" dirty="0" err="1">
                  <a:solidFill>
                    <a:srgbClr val="6D12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Autores</a:t>
              </a:r>
              <a:endParaRPr lang="en-US" sz="5979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0533" y="1606938"/>
              <a:ext cx="7988792" cy="1270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852"/>
                </a:lnSpc>
                <a:spcBef>
                  <a:spcPct val="0"/>
                </a:spcBef>
              </a:pPr>
              <a:r>
                <a:rPr lang="en-US" sz="5609" dirty="0">
                  <a:solidFill>
                    <a:srgbClr val="6D124A"/>
                  </a:solidFill>
                  <a:latin typeface="Arimo"/>
                  <a:ea typeface="Arimo"/>
                  <a:cs typeface="Arimo"/>
                  <a:sym typeface="Arimo"/>
                </a:rPr>
                <a:t>Enzo Alves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0533" y="3017478"/>
              <a:ext cx="8539063" cy="1270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852"/>
                </a:lnSpc>
                <a:spcBef>
                  <a:spcPct val="0"/>
                </a:spcBef>
              </a:pPr>
              <a:r>
                <a:rPr lang="en-US" sz="5609" dirty="0">
                  <a:solidFill>
                    <a:srgbClr val="6D124A"/>
                  </a:solidFill>
                  <a:latin typeface="Arimo"/>
                  <a:ea typeface="Arimo"/>
                  <a:cs typeface="Arimo"/>
                  <a:sym typeface="Arimo"/>
                </a:rPr>
                <a:t>Clara Nogueira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2834" y="4428017"/>
              <a:ext cx="9054460" cy="1270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852"/>
                </a:lnSpc>
                <a:spcBef>
                  <a:spcPct val="0"/>
                </a:spcBef>
              </a:pPr>
              <a:r>
                <a:rPr lang="en-US" sz="5609">
                  <a:solidFill>
                    <a:srgbClr val="6D124A"/>
                  </a:solidFill>
                  <a:latin typeface="Arimo"/>
                  <a:ea typeface="Arimo"/>
                  <a:cs typeface="Arimo"/>
                  <a:sym typeface="Arimo"/>
                </a:rPr>
                <a:t>Gabryel Pereira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34" y="5838557"/>
              <a:ext cx="9054460" cy="1270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852"/>
                </a:lnSpc>
                <a:spcBef>
                  <a:spcPct val="0"/>
                </a:spcBef>
              </a:pPr>
              <a:r>
                <a:rPr lang="en-US" sz="5609">
                  <a:solidFill>
                    <a:srgbClr val="6D124A"/>
                  </a:solidFill>
                  <a:latin typeface="Arimo"/>
                  <a:ea typeface="Arimo"/>
                  <a:cs typeface="Arimo"/>
                  <a:sym typeface="Arimo"/>
                </a:rPr>
                <a:t>Selma Boldieri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834" y="7249096"/>
              <a:ext cx="9834217" cy="1270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852"/>
                </a:lnSpc>
                <a:spcBef>
                  <a:spcPct val="0"/>
                </a:spcBef>
              </a:pPr>
              <a:r>
                <a:rPr lang="en-US" sz="5609">
                  <a:solidFill>
                    <a:srgbClr val="6D124A"/>
                  </a:solidFill>
                  <a:latin typeface="Arimo"/>
                  <a:ea typeface="Arimo"/>
                  <a:cs typeface="Arimo"/>
                  <a:sym typeface="Arimo"/>
                </a:rPr>
                <a:t>Yasmin Gonçalves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27551" y="2386924"/>
            <a:ext cx="9431749" cy="2573350"/>
            <a:chOff x="0" y="0"/>
            <a:chExt cx="12575666" cy="343113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42875"/>
              <a:ext cx="12575666" cy="1348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345"/>
                </a:lnSpc>
                <a:spcBef>
                  <a:spcPct val="0"/>
                </a:spcBef>
              </a:pPr>
              <a:r>
                <a:rPr lang="en-US" sz="5960" b="1" dirty="0">
                  <a:solidFill>
                    <a:srgbClr val="6D12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5960" b="1" dirty="0" err="1">
                  <a:solidFill>
                    <a:srgbClr val="6D12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Orientadora</a:t>
              </a:r>
              <a:endParaRPr lang="en-US" sz="596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39620" y="2163708"/>
              <a:ext cx="8896426" cy="126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827"/>
                </a:lnSpc>
                <a:spcBef>
                  <a:spcPct val="0"/>
                </a:spcBef>
              </a:pPr>
              <a:r>
                <a:rPr lang="en-US" sz="5591">
                  <a:solidFill>
                    <a:srgbClr val="6D124A"/>
                  </a:solidFill>
                  <a:latin typeface="Arimo"/>
                  <a:ea typeface="Arimo"/>
                  <a:cs typeface="Arimo"/>
                  <a:sym typeface="Arimo"/>
                </a:rPr>
                <a:t>Rebeca Furlan </a:t>
              </a: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50532" y="-3086100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232722" y="3167063"/>
            <a:ext cx="8059857" cy="563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616"/>
              </a:lnSpc>
              <a:spcBef>
                <a:spcPct val="0"/>
              </a:spcBef>
            </a:pP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saúde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mental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tem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ganhado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mais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atenção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mas o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acesso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cuidados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ainda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é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limitado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especialmente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para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pessoas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com TAB, TDAH e TEA. Diante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disso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surgiu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Projeto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Polaris, um app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que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auxilia no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acompanhamento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do humor,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hábitos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4011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sintomas</a:t>
            </a:r>
            <a:r>
              <a:rPr lang="en-US" sz="4011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822170" y="2894379"/>
            <a:ext cx="5246370" cy="524637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7460"/>
            </a:xfrm>
            <a:custGeom>
              <a:avLst/>
              <a:gdLst/>
              <a:ahLst/>
              <a:cxnLst/>
              <a:rect l="l" t="t" r="r" b="b"/>
              <a:pathLst>
                <a:path w="6350000" h="6347460">
                  <a:moveTo>
                    <a:pt x="6350000" y="532130"/>
                  </a:moveTo>
                  <a:cubicBezTo>
                    <a:pt x="6350000" y="463550"/>
                    <a:pt x="6315710" y="402590"/>
                    <a:pt x="6263640" y="367030"/>
                  </a:cubicBezTo>
                  <a:cubicBezTo>
                    <a:pt x="6273800" y="360680"/>
                    <a:pt x="6282690" y="353060"/>
                    <a:pt x="6290310" y="344170"/>
                  </a:cubicBezTo>
                  <a:cubicBezTo>
                    <a:pt x="6328410" y="306070"/>
                    <a:pt x="6350000" y="255270"/>
                    <a:pt x="6350000" y="201930"/>
                  </a:cubicBezTo>
                  <a:cubicBezTo>
                    <a:pt x="6350000" y="148590"/>
                    <a:pt x="6328410" y="96520"/>
                    <a:pt x="6290310" y="59690"/>
                  </a:cubicBezTo>
                  <a:cubicBezTo>
                    <a:pt x="6252210" y="21590"/>
                    <a:pt x="6200140" y="0"/>
                    <a:pt x="6148070" y="0"/>
                  </a:cubicBezTo>
                  <a:cubicBezTo>
                    <a:pt x="6094730" y="0"/>
                    <a:pt x="6042660" y="21590"/>
                    <a:pt x="6005830" y="59690"/>
                  </a:cubicBezTo>
                  <a:cubicBezTo>
                    <a:pt x="5996940" y="68580"/>
                    <a:pt x="5990590" y="77470"/>
                    <a:pt x="5982970" y="86360"/>
                  </a:cubicBezTo>
                  <a:cubicBezTo>
                    <a:pt x="5946140" y="34290"/>
                    <a:pt x="5886450" y="0"/>
                    <a:pt x="5817870" y="0"/>
                  </a:cubicBezTo>
                  <a:cubicBezTo>
                    <a:pt x="5749290" y="0"/>
                    <a:pt x="5689600" y="34290"/>
                    <a:pt x="5652770" y="86360"/>
                  </a:cubicBezTo>
                  <a:cubicBezTo>
                    <a:pt x="5615940" y="34290"/>
                    <a:pt x="5556250" y="0"/>
                    <a:pt x="5487670" y="0"/>
                  </a:cubicBezTo>
                  <a:cubicBezTo>
                    <a:pt x="5419090" y="0"/>
                    <a:pt x="5359400" y="34290"/>
                    <a:pt x="5322570" y="86360"/>
                  </a:cubicBezTo>
                  <a:cubicBezTo>
                    <a:pt x="5285740" y="34290"/>
                    <a:pt x="5226050" y="0"/>
                    <a:pt x="5157470" y="0"/>
                  </a:cubicBezTo>
                  <a:cubicBezTo>
                    <a:pt x="5088890" y="0"/>
                    <a:pt x="5027930" y="34290"/>
                    <a:pt x="4992370" y="86360"/>
                  </a:cubicBezTo>
                  <a:cubicBezTo>
                    <a:pt x="4955540" y="34290"/>
                    <a:pt x="4894580" y="0"/>
                    <a:pt x="4827270" y="0"/>
                  </a:cubicBezTo>
                  <a:cubicBezTo>
                    <a:pt x="4758690" y="0"/>
                    <a:pt x="4699000" y="34290"/>
                    <a:pt x="4662170" y="86360"/>
                  </a:cubicBezTo>
                  <a:cubicBezTo>
                    <a:pt x="4625340" y="34290"/>
                    <a:pt x="4565650" y="0"/>
                    <a:pt x="4497070" y="0"/>
                  </a:cubicBezTo>
                  <a:cubicBezTo>
                    <a:pt x="4428490" y="0"/>
                    <a:pt x="4368800" y="34290"/>
                    <a:pt x="4331970" y="86360"/>
                  </a:cubicBezTo>
                  <a:cubicBezTo>
                    <a:pt x="4295140" y="34290"/>
                    <a:pt x="4235450" y="0"/>
                    <a:pt x="4166870" y="0"/>
                  </a:cubicBezTo>
                  <a:cubicBezTo>
                    <a:pt x="4098290" y="0"/>
                    <a:pt x="4038600" y="34290"/>
                    <a:pt x="4001770" y="86360"/>
                  </a:cubicBezTo>
                  <a:cubicBezTo>
                    <a:pt x="3964940" y="34290"/>
                    <a:pt x="3903980" y="0"/>
                    <a:pt x="3836670" y="0"/>
                  </a:cubicBezTo>
                  <a:cubicBezTo>
                    <a:pt x="3768090" y="0"/>
                    <a:pt x="3707130" y="34290"/>
                    <a:pt x="3671570" y="86360"/>
                  </a:cubicBezTo>
                  <a:cubicBezTo>
                    <a:pt x="3634740" y="34290"/>
                    <a:pt x="3575050" y="0"/>
                    <a:pt x="3506470" y="0"/>
                  </a:cubicBezTo>
                  <a:cubicBezTo>
                    <a:pt x="3437890" y="0"/>
                    <a:pt x="3378200" y="34290"/>
                    <a:pt x="3341370" y="86360"/>
                  </a:cubicBezTo>
                  <a:cubicBezTo>
                    <a:pt x="3304540" y="34290"/>
                    <a:pt x="3244850" y="0"/>
                    <a:pt x="3176270" y="0"/>
                  </a:cubicBezTo>
                  <a:cubicBezTo>
                    <a:pt x="3107690" y="0"/>
                    <a:pt x="3048000" y="34290"/>
                    <a:pt x="3011170" y="86360"/>
                  </a:cubicBezTo>
                  <a:cubicBezTo>
                    <a:pt x="2974340" y="34290"/>
                    <a:pt x="2914650" y="0"/>
                    <a:pt x="2846070" y="0"/>
                  </a:cubicBezTo>
                  <a:cubicBezTo>
                    <a:pt x="2777490" y="0"/>
                    <a:pt x="2716530" y="34290"/>
                    <a:pt x="2680970" y="86360"/>
                  </a:cubicBezTo>
                  <a:cubicBezTo>
                    <a:pt x="2644140" y="34290"/>
                    <a:pt x="2583180" y="0"/>
                    <a:pt x="2515870" y="0"/>
                  </a:cubicBezTo>
                  <a:cubicBezTo>
                    <a:pt x="2447290" y="0"/>
                    <a:pt x="2387600" y="34290"/>
                    <a:pt x="2350770" y="86360"/>
                  </a:cubicBezTo>
                  <a:cubicBezTo>
                    <a:pt x="2313940" y="34290"/>
                    <a:pt x="2254250" y="0"/>
                    <a:pt x="2185670" y="0"/>
                  </a:cubicBezTo>
                  <a:cubicBezTo>
                    <a:pt x="2117090" y="0"/>
                    <a:pt x="2057400" y="34290"/>
                    <a:pt x="2020570" y="86360"/>
                  </a:cubicBezTo>
                  <a:cubicBezTo>
                    <a:pt x="1983740" y="34290"/>
                    <a:pt x="1924050" y="0"/>
                    <a:pt x="1855470" y="0"/>
                  </a:cubicBezTo>
                  <a:cubicBezTo>
                    <a:pt x="1786890" y="0"/>
                    <a:pt x="1727200" y="34290"/>
                    <a:pt x="1690370" y="86360"/>
                  </a:cubicBezTo>
                  <a:cubicBezTo>
                    <a:pt x="1653540" y="34290"/>
                    <a:pt x="1593850" y="0"/>
                    <a:pt x="1525270" y="0"/>
                  </a:cubicBezTo>
                  <a:cubicBezTo>
                    <a:pt x="1456690" y="0"/>
                    <a:pt x="1395730" y="34290"/>
                    <a:pt x="1360170" y="86360"/>
                  </a:cubicBezTo>
                  <a:cubicBezTo>
                    <a:pt x="1324610" y="34290"/>
                    <a:pt x="1263650" y="0"/>
                    <a:pt x="1195070" y="0"/>
                  </a:cubicBezTo>
                  <a:cubicBezTo>
                    <a:pt x="1126490" y="0"/>
                    <a:pt x="1066800" y="34290"/>
                    <a:pt x="1029970" y="86360"/>
                  </a:cubicBezTo>
                  <a:cubicBezTo>
                    <a:pt x="990600" y="34290"/>
                    <a:pt x="930910" y="0"/>
                    <a:pt x="862330" y="0"/>
                  </a:cubicBezTo>
                  <a:cubicBezTo>
                    <a:pt x="793750" y="0"/>
                    <a:pt x="734060" y="34290"/>
                    <a:pt x="697230" y="86360"/>
                  </a:cubicBezTo>
                  <a:cubicBezTo>
                    <a:pt x="660400" y="34290"/>
                    <a:pt x="600710" y="0"/>
                    <a:pt x="532130" y="0"/>
                  </a:cubicBezTo>
                  <a:cubicBezTo>
                    <a:pt x="463550" y="0"/>
                    <a:pt x="402590" y="34290"/>
                    <a:pt x="367030" y="86360"/>
                  </a:cubicBezTo>
                  <a:cubicBezTo>
                    <a:pt x="360680" y="76200"/>
                    <a:pt x="353060" y="67310"/>
                    <a:pt x="344170" y="59690"/>
                  </a:cubicBezTo>
                  <a:cubicBezTo>
                    <a:pt x="306070" y="21590"/>
                    <a:pt x="254000" y="0"/>
                    <a:pt x="201930" y="0"/>
                  </a:cubicBezTo>
                  <a:cubicBezTo>
                    <a:pt x="148590" y="0"/>
                    <a:pt x="96520" y="21590"/>
                    <a:pt x="59690" y="59690"/>
                  </a:cubicBezTo>
                  <a:cubicBezTo>
                    <a:pt x="21590" y="96520"/>
                    <a:pt x="0" y="148590"/>
                    <a:pt x="0" y="201930"/>
                  </a:cubicBezTo>
                  <a:cubicBezTo>
                    <a:pt x="0" y="255270"/>
                    <a:pt x="21590" y="307340"/>
                    <a:pt x="59690" y="344170"/>
                  </a:cubicBezTo>
                  <a:cubicBezTo>
                    <a:pt x="68580" y="353060"/>
                    <a:pt x="77470" y="359410"/>
                    <a:pt x="86360" y="367030"/>
                  </a:cubicBezTo>
                  <a:cubicBezTo>
                    <a:pt x="34290" y="403860"/>
                    <a:pt x="0" y="463550"/>
                    <a:pt x="0" y="532130"/>
                  </a:cubicBezTo>
                  <a:cubicBezTo>
                    <a:pt x="0" y="600710"/>
                    <a:pt x="34290" y="660400"/>
                    <a:pt x="86360" y="697230"/>
                  </a:cubicBezTo>
                  <a:cubicBezTo>
                    <a:pt x="34290" y="734060"/>
                    <a:pt x="0" y="793750"/>
                    <a:pt x="0" y="862330"/>
                  </a:cubicBezTo>
                  <a:cubicBezTo>
                    <a:pt x="0" y="930910"/>
                    <a:pt x="34290" y="990600"/>
                    <a:pt x="86360" y="1027430"/>
                  </a:cubicBezTo>
                  <a:cubicBezTo>
                    <a:pt x="34290" y="1064260"/>
                    <a:pt x="0" y="1123950"/>
                    <a:pt x="0" y="1192530"/>
                  </a:cubicBezTo>
                  <a:cubicBezTo>
                    <a:pt x="0" y="1261110"/>
                    <a:pt x="34290" y="1322070"/>
                    <a:pt x="86360" y="1357630"/>
                  </a:cubicBezTo>
                  <a:cubicBezTo>
                    <a:pt x="34290" y="1393190"/>
                    <a:pt x="0" y="1454150"/>
                    <a:pt x="0" y="1522730"/>
                  </a:cubicBezTo>
                  <a:cubicBezTo>
                    <a:pt x="0" y="1591310"/>
                    <a:pt x="34290" y="1651000"/>
                    <a:pt x="86360" y="1687830"/>
                  </a:cubicBezTo>
                  <a:cubicBezTo>
                    <a:pt x="34290" y="1724660"/>
                    <a:pt x="0" y="1784350"/>
                    <a:pt x="0" y="1852930"/>
                  </a:cubicBezTo>
                  <a:cubicBezTo>
                    <a:pt x="0" y="1921510"/>
                    <a:pt x="34290" y="1981200"/>
                    <a:pt x="86360" y="2018030"/>
                  </a:cubicBezTo>
                  <a:cubicBezTo>
                    <a:pt x="34290" y="2054860"/>
                    <a:pt x="0" y="2114550"/>
                    <a:pt x="0" y="2183130"/>
                  </a:cubicBezTo>
                  <a:cubicBezTo>
                    <a:pt x="0" y="2251710"/>
                    <a:pt x="34290" y="2311400"/>
                    <a:pt x="86360" y="2348230"/>
                  </a:cubicBezTo>
                  <a:cubicBezTo>
                    <a:pt x="34290" y="2385060"/>
                    <a:pt x="0" y="2444750"/>
                    <a:pt x="0" y="2513330"/>
                  </a:cubicBezTo>
                  <a:cubicBezTo>
                    <a:pt x="0" y="2581910"/>
                    <a:pt x="34290" y="2642870"/>
                    <a:pt x="86360" y="2678430"/>
                  </a:cubicBezTo>
                  <a:cubicBezTo>
                    <a:pt x="34290" y="2713990"/>
                    <a:pt x="0" y="2774950"/>
                    <a:pt x="0" y="2843530"/>
                  </a:cubicBezTo>
                  <a:cubicBezTo>
                    <a:pt x="0" y="2912110"/>
                    <a:pt x="34290" y="2971800"/>
                    <a:pt x="86360" y="3008630"/>
                  </a:cubicBezTo>
                  <a:cubicBezTo>
                    <a:pt x="34290" y="3045460"/>
                    <a:pt x="0" y="3105150"/>
                    <a:pt x="0" y="3173730"/>
                  </a:cubicBezTo>
                  <a:cubicBezTo>
                    <a:pt x="0" y="3242310"/>
                    <a:pt x="34290" y="3302000"/>
                    <a:pt x="86360" y="3338830"/>
                  </a:cubicBezTo>
                  <a:cubicBezTo>
                    <a:pt x="34290" y="3375660"/>
                    <a:pt x="0" y="3435350"/>
                    <a:pt x="0" y="3503930"/>
                  </a:cubicBezTo>
                  <a:cubicBezTo>
                    <a:pt x="0" y="3572510"/>
                    <a:pt x="34290" y="3633470"/>
                    <a:pt x="86360" y="3669030"/>
                  </a:cubicBezTo>
                  <a:cubicBezTo>
                    <a:pt x="34290" y="3705860"/>
                    <a:pt x="0" y="3766820"/>
                    <a:pt x="0" y="3834130"/>
                  </a:cubicBezTo>
                  <a:cubicBezTo>
                    <a:pt x="0" y="3901440"/>
                    <a:pt x="34290" y="3962400"/>
                    <a:pt x="86360" y="3999230"/>
                  </a:cubicBezTo>
                  <a:cubicBezTo>
                    <a:pt x="34290" y="4036060"/>
                    <a:pt x="0" y="4095750"/>
                    <a:pt x="0" y="4164330"/>
                  </a:cubicBezTo>
                  <a:cubicBezTo>
                    <a:pt x="0" y="4232910"/>
                    <a:pt x="34290" y="4292600"/>
                    <a:pt x="86360" y="4329430"/>
                  </a:cubicBezTo>
                  <a:cubicBezTo>
                    <a:pt x="34290" y="4366260"/>
                    <a:pt x="0" y="4425950"/>
                    <a:pt x="0" y="4494530"/>
                  </a:cubicBezTo>
                  <a:cubicBezTo>
                    <a:pt x="0" y="4563110"/>
                    <a:pt x="34290" y="4622800"/>
                    <a:pt x="86360" y="4659630"/>
                  </a:cubicBezTo>
                  <a:cubicBezTo>
                    <a:pt x="34290" y="4696460"/>
                    <a:pt x="0" y="4756150"/>
                    <a:pt x="0" y="4824730"/>
                  </a:cubicBezTo>
                  <a:cubicBezTo>
                    <a:pt x="0" y="4893310"/>
                    <a:pt x="34290" y="4954270"/>
                    <a:pt x="86360" y="4989830"/>
                  </a:cubicBezTo>
                  <a:cubicBezTo>
                    <a:pt x="34290" y="5025390"/>
                    <a:pt x="0" y="5086350"/>
                    <a:pt x="0" y="5154930"/>
                  </a:cubicBezTo>
                  <a:cubicBezTo>
                    <a:pt x="0" y="5223510"/>
                    <a:pt x="34290" y="5283200"/>
                    <a:pt x="86360" y="5320030"/>
                  </a:cubicBezTo>
                  <a:cubicBezTo>
                    <a:pt x="34290" y="5356860"/>
                    <a:pt x="0" y="5416550"/>
                    <a:pt x="0" y="5485130"/>
                  </a:cubicBezTo>
                  <a:cubicBezTo>
                    <a:pt x="0" y="5553710"/>
                    <a:pt x="34290" y="5613400"/>
                    <a:pt x="86360" y="5650230"/>
                  </a:cubicBezTo>
                  <a:cubicBezTo>
                    <a:pt x="34290" y="5687060"/>
                    <a:pt x="0" y="5746750"/>
                    <a:pt x="0" y="5815330"/>
                  </a:cubicBezTo>
                  <a:cubicBezTo>
                    <a:pt x="0" y="5883910"/>
                    <a:pt x="34290" y="5944870"/>
                    <a:pt x="86360" y="5980430"/>
                  </a:cubicBezTo>
                  <a:cubicBezTo>
                    <a:pt x="76200" y="5986780"/>
                    <a:pt x="67310" y="5994400"/>
                    <a:pt x="59690" y="6003290"/>
                  </a:cubicBezTo>
                  <a:cubicBezTo>
                    <a:pt x="22860" y="6041390"/>
                    <a:pt x="0" y="6093460"/>
                    <a:pt x="0" y="6145530"/>
                  </a:cubicBezTo>
                  <a:cubicBezTo>
                    <a:pt x="0" y="6198870"/>
                    <a:pt x="20320" y="6249670"/>
                    <a:pt x="59690" y="6287770"/>
                  </a:cubicBezTo>
                  <a:cubicBezTo>
                    <a:pt x="97790" y="6325870"/>
                    <a:pt x="148590" y="6347460"/>
                    <a:pt x="201930" y="6347460"/>
                  </a:cubicBezTo>
                  <a:cubicBezTo>
                    <a:pt x="256540" y="6347460"/>
                    <a:pt x="307340" y="6325870"/>
                    <a:pt x="344170" y="6287770"/>
                  </a:cubicBezTo>
                  <a:cubicBezTo>
                    <a:pt x="353060" y="6278880"/>
                    <a:pt x="359410" y="6269990"/>
                    <a:pt x="367030" y="6261100"/>
                  </a:cubicBezTo>
                  <a:cubicBezTo>
                    <a:pt x="403860" y="6313170"/>
                    <a:pt x="463550" y="6347460"/>
                    <a:pt x="532130" y="6347460"/>
                  </a:cubicBezTo>
                  <a:cubicBezTo>
                    <a:pt x="600710" y="6347460"/>
                    <a:pt x="660400" y="6313170"/>
                    <a:pt x="697230" y="6261100"/>
                  </a:cubicBezTo>
                  <a:cubicBezTo>
                    <a:pt x="734060" y="6313170"/>
                    <a:pt x="793750" y="6347460"/>
                    <a:pt x="862330" y="6347460"/>
                  </a:cubicBezTo>
                  <a:cubicBezTo>
                    <a:pt x="930910" y="6347460"/>
                    <a:pt x="990600" y="6313170"/>
                    <a:pt x="1027430" y="6261100"/>
                  </a:cubicBezTo>
                  <a:cubicBezTo>
                    <a:pt x="1064260" y="6313170"/>
                    <a:pt x="1123950" y="6347460"/>
                    <a:pt x="1192530" y="6347460"/>
                  </a:cubicBezTo>
                  <a:cubicBezTo>
                    <a:pt x="1261110" y="6347460"/>
                    <a:pt x="1320800" y="6313170"/>
                    <a:pt x="1357630" y="6261100"/>
                  </a:cubicBezTo>
                  <a:cubicBezTo>
                    <a:pt x="1394460" y="6313170"/>
                    <a:pt x="1455420" y="6347460"/>
                    <a:pt x="1522730" y="6347460"/>
                  </a:cubicBezTo>
                  <a:cubicBezTo>
                    <a:pt x="1591310" y="6347460"/>
                    <a:pt x="1651000" y="6313170"/>
                    <a:pt x="1687830" y="6261100"/>
                  </a:cubicBezTo>
                  <a:cubicBezTo>
                    <a:pt x="1724660" y="6313170"/>
                    <a:pt x="1784350" y="6347460"/>
                    <a:pt x="1852930" y="6347460"/>
                  </a:cubicBezTo>
                  <a:cubicBezTo>
                    <a:pt x="1921510" y="6347460"/>
                    <a:pt x="1981200" y="6313170"/>
                    <a:pt x="2018030" y="6261100"/>
                  </a:cubicBezTo>
                  <a:cubicBezTo>
                    <a:pt x="2054860" y="6313170"/>
                    <a:pt x="2114550" y="6347460"/>
                    <a:pt x="2183130" y="6347460"/>
                  </a:cubicBezTo>
                  <a:cubicBezTo>
                    <a:pt x="2251710" y="6347460"/>
                    <a:pt x="2311400" y="6313170"/>
                    <a:pt x="2348230" y="6261100"/>
                  </a:cubicBezTo>
                  <a:cubicBezTo>
                    <a:pt x="2385060" y="6313170"/>
                    <a:pt x="2444750" y="6347460"/>
                    <a:pt x="2513330" y="6347460"/>
                  </a:cubicBezTo>
                  <a:cubicBezTo>
                    <a:pt x="2581910" y="6347460"/>
                    <a:pt x="2642870" y="6313170"/>
                    <a:pt x="2678430" y="6261100"/>
                  </a:cubicBezTo>
                  <a:cubicBezTo>
                    <a:pt x="2715260" y="6313170"/>
                    <a:pt x="2776220" y="6347460"/>
                    <a:pt x="2843530" y="6347460"/>
                  </a:cubicBezTo>
                  <a:cubicBezTo>
                    <a:pt x="2912110" y="6347460"/>
                    <a:pt x="2971800" y="6313170"/>
                    <a:pt x="3008630" y="6261100"/>
                  </a:cubicBezTo>
                  <a:cubicBezTo>
                    <a:pt x="3045460" y="6313170"/>
                    <a:pt x="3105150" y="6347460"/>
                    <a:pt x="3173730" y="6347460"/>
                  </a:cubicBezTo>
                  <a:cubicBezTo>
                    <a:pt x="3242310" y="6347460"/>
                    <a:pt x="3302000" y="6313170"/>
                    <a:pt x="3338830" y="6261100"/>
                  </a:cubicBezTo>
                  <a:cubicBezTo>
                    <a:pt x="3375660" y="6313170"/>
                    <a:pt x="3435350" y="6347460"/>
                    <a:pt x="3503930" y="6347460"/>
                  </a:cubicBezTo>
                  <a:cubicBezTo>
                    <a:pt x="3572510" y="6347460"/>
                    <a:pt x="3632200" y="6313170"/>
                    <a:pt x="3669030" y="6261100"/>
                  </a:cubicBezTo>
                  <a:cubicBezTo>
                    <a:pt x="3705860" y="6313170"/>
                    <a:pt x="3765550" y="6347460"/>
                    <a:pt x="3834130" y="6347460"/>
                  </a:cubicBezTo>
                  <a:cubicBezTo>
                    <a:pt x="3902710" y="6347460"/>
                    <a:pt x="3963670" y="6313170"/>
                    <a:pt x="3999230" y="6261100"/>
                  </a:cubicBezTo>
                  <a:cubicBezTo>
                    <a:pt x="4036060" y="6313170"/>
                    <a:pt x="4095750" y="6347460"/>
                    <a:pt x="4164330" y="6347460"/>
                  </a:cubicBezTo>
                  <a:cubicBezTo>
                    <a:pt x="4232910" y="6347460"/>
                    <a:pt x="4292600" y="6313170"/>
                    <a:pt x="4329430" y="6261100"/>
                  </a:cubicBezTo>
                  <a:cubicBezTo>
                    <a:pt x="4366260" y="6313170"/>
                    <a:pt x="4425950" y="6347460"/>
                    <a:pt x="4494530" y="6347460"/>
                  </a:cubicBezTo>
                  <a:cubicBezTo>
                    <a:pt x="4563110" y="6347460"/>
                    <a:pt x="4622800" y="6313170"/>
                    <a:pt x="4659630" y="6261100"/>
                  </a:cubicBezTo>
                  <a:cubicBezTo>
                    <a:pt x="4696460" y="6313170"/>
                    <a:pt x="4756150" y="6347460"/>
                    <a:pt x="4824730" y="6347460"/>
                  </a:cubicBezTo>
                  <a:cubicBezTo>
                    <a:pt x="4893310" y="6347460"/>
                    <a:pt x="4954270" y="6313170"/>
                    <a:pt x="4989830" y="6261100"/>
                  </a:cubicBezTo>
                  <a:cubicBezTo>
                    <a:pt x="5026660" y="6313170"/>
                    <a:pt x="5087620" y="6347460"/>
                    <a:pt x="5154930" y="6347460"/>
                  </a:cubicBezTo>
                  <a:cubicBezTo>
                    <a:pt x="5223510" y="6347460"/>
                    <a:pt x="5283200" y="6313170"/>
                    <a:pt x="5320030" y="6261100"/>
                  </a:cubicBezTo>
                  <a:cubicBezTo>
                    <a:pt x="5356860" y="6313170"/>
                    <a:pt x="5416550" y="6347460"/>
                    <a:pt x="5485130" y="6347460"/>
                  </a:cubicBezTo>
                  <a:cubicBezTo>
                    <a:pt x="5553710" y="6347460"/>
                    <a:pt x="5613400" y="6313170"/>
                    <a:pt x="5650230" y="6261100"/>
                  </a:cubicBezTo>
                  <a:cubicBezTo>
                    <a:pt x="5687060" y="6313170"/>
                    <a:pt x="5746750" y="6347460"/>
                    <a:pt x="5815330" y="6347460"/>
                  </a:cubicBezTo>
                  <a:cubicBezTo>
                    <a:pt x="5883910" y="6347460"/>
                    <a:pt x="5943600" y="6313170"/>
                    <a:pt x="5980430" y="6261100"/>
                  </a:cubicBezTo>
                  <a:cubicBezTo>
                    <a:pt x="5986780" y="6271260"/>
                    <a:pt x="5994400" y="6280150"/>
                    <a:pt x="6003290" y="6287770"/>
                  </a:cubicBezTo>
                  <a:cubicBezTo>
                    <a:pt x="6041390" y="6325870"/>
                    <a:pt x="6092190" y="6347460"/>
                    <a:pt x="6145530" y="6347460"/>
                  </a:cubicBezTo>
                  <a:cubicBezTo>
                    <a:pt x="6198870" y="6347460"/>
                    <a:pt x="6249670" y="6325870"/>
                    <a:pt x="6287770" y="6287770"/>
                  </a:cubicBezTo>
                  <a:cubicBezTo>
                    <a:pt x="6325870" y="6249670"/>
                    <a:pt x="6347460" y="6198870"/>
                    <a:pt x="6347460" y="6145530"/>
                  </a:cubicBezTo>
                  <a:cubicBezTo>
                    <a:pt x="6347460" y="6092190"/>
                    <a:pt x="6325870" y="6040120"/>
                    <a:pt x="6287770" y="6003290"/>
                  </a:cubicBezTo>
                  <a:cubicBezTo>
                    <a:pt x="6278880" y="5994400"/>
                    <a:pt x="6269990" y="5988050"/>
                    <a:pt x="6261100" y="5980430"/>
                  </a:cubicBezTo>
                  <a:cubicBezTo>
                    <a:pt x="6313170" y="5943600"/>
                    <a:pt x="6347460" y="5883910"/>
                    <a:pt x="6347460" y="5815330"/>
                  </a:cubicBezTo>
                  <a:cubicBezTo>
                    <a:pt x="6347460" y="5746750"/>
                    <a:pt x="6313170" y="5687060"/>
                    <a:pt x="6261100" y="5650230"/>
                  </a:cubicBezTo>
                  <a:cubicBezTo>
                    <a:pt x="6313170" y="5613400"/>
                    <a:pt x="6347460" y="5553710"/>
                    <a:pt x="6347460" y="5485130"/>
                  </a:cubicBezTo>
                  <a:cubicBezTo>
                    <a:pt x="6347460" y="5416550"/>
                    <a:pt x="6313170" y="5356860"/>
                    <a:pt x="6261100" y="5320030"/>
                  </a:cubicBezTo>
                  <a:cubicBezTo>
                    <a:pt x="6313170" y="5283200"/>
                    <a:pt x="6347460" y="5223510"/>
                    <a:pt x="6347460" y="5154930"/>
                  </a:cubicBezTo>
                  <a:cubicBezTo>
                    <a:pt x="6347460" y="5086350"/>
                    <a:pt x="6313170" y="5025390"/>
                    <a:pt x="6261100" y="4989830"/>
                  </a:cubicBezTo>
                  <a:cubicBezTo>
                    <a:pt x="6313170" y="4953000"/>
                    <a:pt x="6347460" y="4892040"/>
                    <a:pt x="6347460" y="4824730"/>
                  </a:cubicBezTo>
                  <a:cubicBezTo>
                    <a:pt x="6347460" y="4756150"/>
                    <a:pt x="6313170" y="4696460"/>
                    <a:pt x="6261100" y="4659630"/>
                  </a:cubicBezTo>
                  <a:cubicBezTo>
                    <a:pt x="6313170" y="4622800"/>
                    <a:pt x="6347460" y="4563110"/>
                    <a:pt x="6347460" y="4494530"/>
                  </a:cubicBezTo>
                  <a:cubicBezTo>
                    <a:pt x="6347460" y="4425950"/>
                    <a:pt x="6313170" y="4366260"/>
                    <a:pt x="6261100" y="4329430"/>
                  </a:cubicBezTo>
                  <a:cubicBezTo>
                    <a:pt x="6313170" y="4292600"/>
                    <a:pt x="6347460" y="4232910"/>
                    <a:pt x="6347460" y="4164330"/>
                  </a:cubicBezTo>
                  <a:cubicBezTo>
                    <a:pt x="6347460" y="4095750"/>
                    <a:pt x="6313170" y="4036060"/>
                    <a:pt x="6261100" y="3999230"/>
                  </a:cubicBezTo>
                  <a:cubicBezTo>
                    <a:pt x="6313170" y="3962400"/>
                    <a:pt x="6347460" y="3901440"/>
                    <a:pt x="6347460" y="3834130"/>
                  </a:cubicBezTo>
                  <a:cubicBezTo>
                    <a:pt x="6347460" y="3765550"/>
                    <a:pt x="6313170" y="3704590"/>
                    <a:pt x="6261100" y="3669030"/>
                  </a:cubicBezTo>
                  <a:cubicBezTo>
                    <a:pt x="6313170" y="3632200"/>
                    <a:pt x="6347460" y="3572510"/>
                    <a:pt x="6347460" y="3503930"/>
                  </a:cubicBezTo>
                  <a:cubicBezTo>
                    <a:pt x="6347460" y="3435350"/>
                    <a:pt x="6313170" y="3375660"/>
                    <a:pt x="6261100" y="3338830"/>
                  </a:cubicBezTo>
                  <a:cubicBezTo>
                    <a:pt x="6313170" y="3302000"/>
                    <a:pt x="6347460" y="3242310"/>
                    <a:pt x="6347460" y="3173730"/>
                  </a:cubicBezTo>
                  <a:cubicBezTo>
                    <a:pt x="6347460" y="3105150"/>
                    <a:pt x="6313170" y="3045460"/>
                    <a:pt x="6261100" y="3008630"/>
                  </a:cubicBezTo>
                  <a:cubicBezTo>
                    <a:pt x="6313170" y="2971800"/>
                    <a:pt x="6347460" y="2912110"/>
                    <a:pt x="6347460" y="2843530"/>
                  </a:cubicBezTo>
                  <a:cubicBezTo>
                    <a:pt x="6347460" y="2774950"/>
                    <a:pt x="6313170" y="2713990"/>
                    <a:pt x="6261100" y="2678430"/>
                  </a:cubicBezTo>
                  <a:cubicBezTo>
                    <a:pt x="6313170" y="2641600"/>
                    <a:pt x="6347460" y="2580640"/>
                    <a:pt x="6347460" y="2513330"/>
                  </a:cubicBezTo>
                  <a:cubicBezTo>
                    <a:pt x="6347460" y="2444750"/>
                    <a:pt x="6313170" y="2383790"/>
                    <a:pt x="6261100" y="2348230"/>
                  </a:cubicBezTo>
                  <a:cubicBezTo>
                    <a:pt x="6313170" y="2311400"/>
                    <a:pt x="6347460" y="2251710"/>
                    <a:pt x="6347460" y="2183130"/>
                  </a:cubicBezTo>
                  <a:cubicBezTo>
                    <a:pt x="6347460" y="2114550"/>
                    <a:pt x="6313170" y="2054860"/>
                    <a:pt x="6261100" y="2018030"/>
                  </a:cubicBezTo>
                  <a:cubicBezTo>
                    <a:pt x="6313170" y="1981200"/>
                    <a:pt x="6347460" y="1921510"/>
                    <a:pt x="6347460" y="1852930"/>
                  </a:cubicBezTo>
                  <a:cubicBezTo>
                    <a:pt x="6347460" y="1784350"/>
                    <a:pt x="6313170" y="1724660"/>
                    <a:pt x="6261100" y="1687830"/>
                  </a:cubicBezTo>
                  <a:cubicBezTo>
                    <a:pt x="6313170" y="1651000"/>
                    <a:pt x="6347460" y="1591310"/>
                    <a:pt x="6347460" y="1522730"/>
                  </a:cubicBezTo>
                  <a:cubicBezTo>
                    <a:pt x="6347460" y="1454150"/>
                    <a:pt x="6313170" y="1393190"/>
                    <a:pt x="6261100" y="1357630"/>
                  </a:cubicBezTo>
                  <a:cubicBezTo>
                    <a:pt x="6313170" y="1322070"/>
                    <a:pt x="6347460" y="1261110"/>
                    <a:pt x="6347460" y="1192530"/>
                  </a:cubicBezTo>
                  <a:cubicBezTo>
                    <a:pt x="6347460" y="1123950"/>
                    <a:pt x="6313170" y="1064260"/>
                    <a:pt x="6261100" y="1027430"/>
                  </a:cubicBezTo>
                  <a:cubicBezTo>
                    <a:pt x="6313170" y="990600"/>
                    <a:pt x="6347460" y="930910"/>
                    <a:pt x="6347460" y="862330"/>
                  </a:cubicBezTo>
                  <a:cubicBezTo>
                    <a:pt x="6347460" y="793750"/>
                    <a:pt x="6313170" y="734060"/>
                    <a:pt x="6261100" y="697230"/>
                  </a:cubicBezTo>
                  <a:cubicBezTo>
                    <a:pt x="6315710" y="660400"/>
                    <a:pt x="6350000" y="600710"/>
                    <a:pt x="6350000" y="532130"/>
                  </a:cubicBezTo>
                  <a:close/>
                </a:path>
              </a:pathLst>
            </a:custGeom>
            <a:solidFill>
              <a:srgbClr val="6D12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358140" y="358140"/>
              <a:ext cx="5632450" cy="5633720"/>
            </a:xfrm>
            <a:custGeom>
              <a:avLst/>
              <a:gdLst/>
              <a:ahLst/>
              <a:cxnLst/>
              <a:rect l="l" t="t" r="r" b="b"/>
              <a:pathLst>
                <a:path w="5632450" h="5633720">
                  <a:moveTo>
                    <a:pt x="0" y="0"/>
                  </a:moveTo>
                  <a:lnTo>
                    <a:pt x="5632450" y="0"/>
                  </a:lnTo>
                  <a:lnTo>
                    <a:pt x="5632450" y="5633720"/>
                  </a:lnTo>
                  <a:lnTo>
                    <a:pt x="0" y="5633720"/>
                  </a:lnTo>
                  <a:close/>
                </a:path>
              </a:pathLst>
            </a:custGeom>
            <a:blipFill>
              <a:blip r:embed="rId3"/>
              <a:stretch>
                <a:fillRect l="-3246" r="-324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91044" y="1338397"/>
            <a:ext cx="6143212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Introdução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792853" y="2227473"/>
            <a:ext cx="3688384" cy="44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40"/>
              </a:lnSpc>
              <a:spcBef>
                <a:spcPct val="0"/>
              </a:spcBef>
            </a:pP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Figura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1: Logo do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Projeto</a:t>
            </a:r>
            <a:endParaRPr lang="en-US" sz="2528" dirty="0">
              <a:solidFill>
                <a:srgbClr val="6D124A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822170" y="8293149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1" b="-5833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2955423" y="-3764707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4"/>
                </a:lnTo>
                <a:lnTo>
                  <a:pt x="0" y="9134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448206" y="659790"/>
            <a:ext cx="15391588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Objetivo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67712" y="3563589"/>
            <a:ext cx="14775347" cy="281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614"/>
              </a:lnSpc>
              <a:spcBef>
                <a:spcPct val="0"/>
              </a:spcBef>
            </a:pP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Desenvolver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um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aplicativo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inovador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para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monitoramento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dados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físicos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emocionais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previsão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crises 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apoio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na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gestão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do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autocuidado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pessoas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neurodivergentes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com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relatórios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detalhados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para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acompanhamento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profissionais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saúde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</a:p>
        </p:txBody>
      </p:sp>
      <p:sp>
        <p:nvSpPr>
          <p:cNvPr id="6" name="Freeform 6"/>
          <p:cNvSpPr/>
          <p:nvPr/>
        </p:nvSpPr>
        <p:spPr>
          <a:xfrm>
            <a:off x="-2470900" y="6048643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68884" y="8962973"/>
            <a:ext cx="1307944" cy="1228480"/>
          </a:xfrm>
          <a:custGeom>
            <a:avLst/>
            <a:gdLst/>
            <a:ahLst/>
            <a:cxnLst/>
            <a:rect l="l" t="t" r="r" b="b"/>
            <a:pathLst>
              <a:path w="1307944" h="1228480">
                <a:moveTo>
                  <a:pt x="0" y="0"/>
                </a:moveTo>
                <a:lnTo>
                  <a:pt x="1307944" y="0"/>
                </a:lnTo>
                <a:lnTo>
                  <a:pt x="1307944" y="1228480"/>
                </a:lnTo>
                <a:lnTo>
                  <a:pt x="0" y="1228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-2339336" y="3164930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600199" y="667423"/>
            <a:ext cx="4121875" cy="88016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540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389576" y="2595868"/>
            <a:ext cx="10333280" cy="509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946" lvl="1" indent="-386973" algn="just">
              <a:lnSpc>
                <a:spcPts val="5018"/>
              </a:lnSpc>
              <a:buFont typeface="Arial"/>
              <a:buChar char="•"/>
            </a:pP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Neurodiversidade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inclusão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digital.</a:t>
            </a:r>
          </a:p>
          <a:p>
            <a:pPr marL="773946" lvl="1" indent="-386973" algn="just">
              <a:lnSpc>
                <a:spcPts val="5018"/>
              </a:lnSpc>
              <a:buFont typeface="Arial"/>
              <a:buChar char="•"/>
            </a:pP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Transtorno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Afetivo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Bipolar e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autorregulação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emocional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773946" lvl="1" indent="-386973" algn="just">
              <a:lnSpc>
                <a:spcPts val="5018"/>
              </a:lnSpc>
              <a:buFont typeface="Arial"/>
              <a:buChar char="•"/>
            </a:pP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Tecnologias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assistivas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design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inclusivo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773946" lvl="1" indent="-386973" algn="just">
              <a:lnSpc>
                <a:spcPts val="5018"/>
              </a:lnSpc>
              <a:buFont typeface="Arial"/>
              <a:buChar char="•"/>
            </a:pP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Usabilidade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acessibilidade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aplicativos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móveis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773946" lvl="1" indent="-386973" algn="just">
              <a:lnSpc>
                <a:spcPts val="5018"/>
              </a:lnSpc>
              <a:buFont typeface="Arial"/>
              <a:buChar char="•"/>
            </a:pP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Metodologias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ágeis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no </a:t>
            </a:r>
            <a:r>
              <a:rPr lang="en-US" sz="3584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desenvolvimento</a:t>
            </a:r>
            <a:r>
              <a:rPr lang="en-US" sz="3584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software.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16535" y="885825"/>
            <a:ext cx="9242765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Referencial</a:t>
            </a:r>
            <a:r>
              <a:rPr lang="en-US" sz="6639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Teórico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33691" y="365687"/>
            <a:ext cx="3688384" cy="44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40"/>
              </a:lnSpc>
              <a:spcBef>
                <a:spcPct val="0"/>
              </a:spcBef>
            </a:pP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Figura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2: Site Polaris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510538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  <p:pic>
        <p:nvPicPr>
          <p:cNvPr id="15" name="video do site da Polaris">
            <a:hlinkClick r:id="" action="ppaction://media"/>
            <a:extLst>
              <a:ext uri="{FF2B5EF4-FFF2-40B4-BE49-F238E27FC236}">
                <a16:creationId xmlns:a16="http://schemas.microsoft.com/office/drawing/2014/main" id="{4BA6E025-DC8A-636C-A415-F91139FCC03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6401" end="59578.6666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832336" y="1028330"/>
            <a:ext cx="3657600" cy="8229600"/>
          </a:xfrm>
          <a:prstGeom prst="rect">
            <a:avLst/>
          </a:prstGeom>
          <a:ln w="57150" cap="sq">
            <a:solidFill>
              <a:srgbClr val="7030A0"/>
            </a:solidFill>
            <a:prstDash val="solid"/>
            <a:miter lim="800000"/>
          </a:ln>
          <a:effectLst/>
          <a:scene3d>
            <a:camera prst="orthographicFront"/>
            <a:lightRig rig="soft" dir="t"/>
          </a:scene3d>
          <a:sp3d contourW="6350">
            <a:contourClr>
              <a:srgbClr val="000000"/>
            </a:contourClr>
          </a:sp3d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10152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35" repeatCount="indefinite" fill="remove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62243" y="-5182996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5299280" y="885825"/>
            <a:ext cx="7689441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Metodologia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109689" y="2729284"/>
            <a:ext cx="12068622" cy="422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614"/>
              </a:lnSpc>
              <a:spcBef>
                <a:spcPct val="0"/>
              </a:spcBef>
            </a:pP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metodologia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do Polaris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foi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exploratória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aplicada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quantitativa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envolvendo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pesquisa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teórica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identificação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necessidades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prototipagem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testes 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avaliação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Essa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abordagem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integrou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fundamentos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científicos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prática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aplicada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garantindo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foco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acessibilidade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usabilidade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401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inclusão</a:t>
            </a:r>
            <a:r>
              <a:rPr lang="en-US" sz="401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digital.</a:t>
            </a:r>
          </a:p>
        </p:txBody>
      </p:sp>
      <p:sp>
        <p:nvSpPr>
          <p:cNvPr id="5" name="Freeform 5"/>
          <p:cNvSpPr/>
          <p:nvPr/>
        </p:nvSpPr>
        <p:spPr>
          <a:xfrm>
            <a:off x="13752798" y="5767110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62243" y="-5182996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752798" y="5767110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988343" y="4292338"/>
            <a:ext cx="15131762" cy="1702323"/>
          </a:xfrm>
          <a:custGeom>
            <a:avLst/>
            <a:gdLst/>
            <a:ahLst/>
            <a:cxnLst/>
            <a:rect l="l" t="t" r="r" b="b"/>
            <a:pathLst>
              <a:path w="15131762" h="1702323">
                <a:moveTo>
                  <a:pt x="0" y="0"/>
                </a:moveTo>
                <a:lnTo>
                  <a:pt x="15131762" y="0"/>
                </a:lnTo>
                <a:lnTo>
                  <a:pt x="15131762" y="1702324"/>
                </a:lnTo>
                <a:lnTo>
                  <a:pt x="0" y="1702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5299280" y="885825"/>
            <a:ext cx="7689441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Procedimento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99808" y="3268395"/>
            <a:ext cx="4508832" cy="44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40"/>
              </a:lnSpc>
              <a:spcBef>
                <a:spcPct val="0"/>
              </a:spcBef>
            </a:pP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Figura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3: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Fluxo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Aplicação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3644" y="7087382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04829" y="768986"/>
            <a:ext cx="10741474" cy="12171642"/>
          </a:xfrm>
          <a:custGeom>
            <a:avLst/>
            <a:gdLst/>
            <a:ahLst/>
            <a:cxnLst/>
            <a:rect l="l" t="t" r="r" b="b"/>
            <a:pathLst>
              <a:path w="10741474" h="12171642">
                <a:moveTo>
                  <a:pt x="0" y="0"/>
                </a:moveTo>
                <a:lnTo>
                  <a:pt x="10741474" y="0"/>
                </a:lnTo>
                <a:lnTo>
                  <a:pt x="10741474" y="12171642"/>
                </a:lnTo>
                <a:lnTo>
                  <a:pt x="0" y="12171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87057" y="885825"/>
            <a:ext cx="16972243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Desenvolvimento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50472" y="2994004"/>
            <a:ext cx="15643250" cy="418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5171" lvl="1" indent="-512586" algn="just">
              <a:lnSpc>
                <a:spcPts val="6647"/>
              </a:lnSpc>
              <a:buFont typeface="Arial"/>
              <a:buChar char="•"/>
            </a:pP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Destaque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do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papel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do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aplicativo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como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uma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inovação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social e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tecnológica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;.</a:t>
            </a:r>
          </a:p>
          <a:p>
            <a:pPr marL="1025171" lvl="1" indent="-512586" algn="just">
              <a:lnSpc>
                <a:spcPts val="6647"/>
              </a:lnSpc>
              <a:buFont typeface="Arial"/>
              <a:buChar char="•"/>
            </a:pP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Comprometimento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com a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promoção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autonomia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025171" lvl="1" indent="-512586" algn="just">
              <a:lnSpc>
                <a:spcPts val="6647"/>
              </a:lnSpc>
              <a:buFont typeface="Arial"/>
              <a:buChar char="•"/>
            </a:pP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Valorização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diversidade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025171" lvl="1" indent="-512586" algn="just">
              <a:lnSpc>
                <a:spcPts val="6647"/>
              </a:lnSpc>
              <a:buFont typeface="Arial"/>
              <a:buChar char="•"/>
            </a:pP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Incentivo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à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saúde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74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cognitiva</a:t>
            </a:r>
            <a:r>
              <a:rPr lang="en-US" sz="474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65096" y="-5782554"/>
            <a:ext cx="8913230" cy="10099977"/>
          </a:xfrm>
          <a:custGeom>
            <a:avLst/>
            <a:gdLst/>
            <a:ahLst/>
            <a:cxnLst/>
            <a:rect l="l" t="t" r="r" b="b"/>
            <a:pathLst>
              <a:path w="8913230" h="10099977">
                <a:moveTo>
                  <a:pt x="0" y="0"/>
                </a:moveTo>
                <a:lnTo>
                  <a:pt x="8913230" y="0"/>
                </a:lnTo>
                <a:lnTo>
                  <a:pt x="8913230" y="10099977"/>
                </a:lnTo>
                <a:lnTo>
                  <a:pt x="0" y="10099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4755189" y="6605089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4554445" y="4317423"/>
            <a:ext cx="8913230" cy="10099977"/>
          </a:xfrm>
          <a:custGeom>
            <a:avLst/>
            <a:gdLst/>
            <a:ahLst/>
            <a:cxnLst/>
            <a:rect l="l" t="t" r="r" b="b"/>
            <a:pathLst>
              <a:path w="8913230" h="10099977">
                <a:moveTo>
                  <a:pt x="0" y="0"/>
                </a:moveTo>
                <a:lnTo>
                  <a:pt x="8913230" y="0"/>
                </a:lnTo>
                <a:lnTo>
                  <a:pt x="8913230" y="10099977"/>
                </a:lnTo>
                <a:lnTo>
                  <a:pt x="0" y="10099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65" y="2690893"/>
            <a:ext cx="6212652" cy="6212652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9346499" y="2081191"/>
            <a:ext cx="7912801" cy="7432056"/>
          </a:xfrm>
          <a:custGeom>
            <a:avLst/>
            <a:gdLst/>
            <a:ahLst/>
            <a:cxnLst/>
            <a:rect l="l" t="t" r="r" b="b"/>
            <a:pathLst>
              <a:path w="7912801" h="7432056">
                <a:moveTo>
                  <a:pt x="0" y="0"/>
                </a:moveTo>
                <a:lnTo>
                  <a:pt x="7912801" y="0"/>
                </a:lnTo>
                <a:lnTo>
                  <a:pt x="7912801" y="7432056"/>
                </a:lnTo>
                <a:lnTo>
                  <a:pt x="0" y="7432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28700" y="1023141"/>
            <a:ext cx="7733067" cy="148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9"/>
              </a:lnSpc>
              <a:spcBef>
                <a:spcPct val="0"/>
              </a:spcBef>
            </a:pPr>
            <a:r>
              <a:rPr lang="en-US" sz="8571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  <a:hlinkClick r:id="rId5" tooltip="https://polarishealth.netlify.app/auth/login"/>
              </a:rPr>
              <a:t>Teste Agora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14653" y="8533652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42305" y="3172479"/>
            <a:ext cx="10741474" cy="12171642"/>
          </a:xfrm>
          <a:custGeom>
            <a:avLst/>
            <a:gdLst/>
            <a:ahLst/>
            <a:cxnLst/>
            <a:rect l="l" t="t" r="r" b="b"/>
            <a:pathLst>
              <a:path w="10741474" h="12171642">
                <a:moveTo>
                  <a:pt x="0" y="0"/>
                </a:moveTo>
                <a:lnTo>
                  <a:pt x="10741474" y="0"/>
                </a:lnTo>
                <a:lnTo>
                  <a:pt x="10741474" y="12171642"/>
                </a:lnTo>
                <a:lnTo>
                  <a:pt x="0" y="12171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695" y="1859458"/>
            <a:ext cx="11626610" cy="802389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638574" y="2069402"/>
            <a:ext cx="7340901" cy="38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47"/>
              </a:lnSpc>
              <a:spcBef>
                <a:spcPct val="0"/>
              </a:spcBef>
            </a:pPr>
            <a:r>
              <a:rPr lang="en-US" sz="2176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Figura</a:t>
            </a:r>
            <a:r>
              <a:rPr lang="en-US" sz="2176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4: </a:t>
            </a:r>
            <a:r>
              <a:rPr lang="en-US" sz="2176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Probabilidade</a:t>
            </a:r>
            <a:r>
              <a:rPr lang="en-US" sz="2176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usar/</a:t>
            </a:r>
            <a:r>
              <a:rPr lang="en-US" sz="2176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recomendar</a:t>
            </a:r>
            <a:r>
              <a:rPr lang="en-US" sz="2176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o Polaris (0–5)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0787" y="9226077"/>
            <a:ext cx="4956475" cy="38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5"/>
              </a:lnSpc>
              <a:spcBef>
                <a:spcPct val="0"/>
              </a:spcBef>
            </a:pPr>
            <a:r>
              <a:rPr lang="en-US" sz="2175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175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175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75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175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0906" y="384363"/>
            <a:ext cx="4566187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Resultados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86870" y="-3226543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518677" y="696491"/>
            <a:ext cx="15250647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Conclusão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18677" y="3429635"/>
            <a:ext cx="15250647" cy="333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320"/>
              </a:lnSpc>
              <a:spcBef>
                <a:spcPct val="0"/>
              </a:spcBef>
            </a:pP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O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estudo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apresenta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o Polaris,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aplicativo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para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pessoas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neurodivergentes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que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promove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autonomia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bem-estar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A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pesquisa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mostrou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alta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aceitação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potencial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para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melhorar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acompanhamento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clínico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pedagógico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Conclui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-se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que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o Polaris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une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tecnologia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empatia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inclusão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prol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sz="380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neurodiversidade</a:t>
            </a:r>
            <a:r>
              <a:rPr lang="en-US" sz="380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65096" y="-5782554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4755189" y="6605089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5299280" y="384363"/>
            <a:ext cx="7689441" cy="114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95"/>
              </a:lnSpc>
              <a:spcBef>
                <a:spcPct val="0"/>
              </a:spcBef>
            </a:pPr>
            <a:r>
              <a:rPr lang="en-US" sz="6639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Referências</a:t>
            </a:r>
            <a:endParaRPr lang="en-US" sz="6639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1635" y="2459568"/>
            <a:ext cx="7045813" cy="268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83"/>
              </a:lnSpc>
              <a:spcBef>
                <a:spcPct val="0"/>
              </a:spcBef>
            </a:pP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BORGES, M. F.; SILVA, L. T.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Tecnologias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assistivas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inclusão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pessoas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com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necessidades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cognitivas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específicas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Revista de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Inovação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Saúde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v. 6, n. 2, p. 55–66, 2021.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07035" y="2444984"/>
            <a:ext cx="7652265" cy="2713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84"/>
              </a:lnSpc>
              <a:spcBef>
                <a:spcPct val="0"/>
              </a:spcBef>
            </a:pP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DEL PRETTE, Z. A. P.; DEL PRETTE, A. H. H.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Habilidades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sociais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saúde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mental: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aspectos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históricos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conceituais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Psicologia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: Teoria e Pesquisa, Brasília, v. 29, n. 3, p. 271–278, 2013.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1635" y="6528889"/>
            <a:ext cx="7045813" cy="375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3"/>
              </a:lnSpc>
            </a:pP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MARTINS, P. R.; RIBEIRO, T. A.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Desenvolvimento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mobile com React Native: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uma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análise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viabilidade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projetos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pequeno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porte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Revista de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Tecnologias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Aplicadas</a:t>
            </a:r>
            <a:r>
              <a:rPr lang="en-US" sz="305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, v. 10, n. 2, p. 45–56, 2022.  </a:t>
            </a:r>
          </a:p>
          <a:p>
            <a:pPr marL="0" lvl="0" indent="0" algn="just">
              <a:lnSpc>
                <a:spcPts val="4283"/>
              </a:lnSpc>
              <a:spcBef>
                <a:spcPct val="0"/>
              </a:spcBef>
            </a:pPr>
            <a:endParaRPr lang="en-US" sz="3059" dirty="0">
              <a:solidFill>
                <a:srgbClr val="6D124A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07035" y="6528889"/>
            <a:ext cx="7652265" cy="217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84"/>
              </a:lnSpc>
              <a:spcBef>
                <a:spcPct val="0"/>
              </a:spcBef>
            </a:pP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OMS – ORGANIZAÇÃO MUNDIAL DA SAÚDE.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Relatório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mundial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sobre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saúde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mental: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transformar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saúde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mental para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todos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3060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Genebra</a:t>
            </a:r>
            <a:r>
              <a:rPr lang="en-US" sz="3060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: OMS, 2022.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30706" y="-5303920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2" y="0"/>
                </a:lnTo>
                <a:lnTo>
                  <a:pt x="8061412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019626" y="5254720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3165687" y="4573080"/>
            <a:ext cx="1213720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Agradecemos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à Prof.ª Rebecca Furlan e </a:t>
            </a: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aos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demais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professores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,</a:t>
            </a:r>
          </a:p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à ETEC Zona Leste e a </a:t>
            </a: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todos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que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apoiaram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o </a:t>
            </a:r>
            <a:r>
              <a:rPr lang="en-US" sz="300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desenvolvimento</a:t>
            </a:r>
            <a:r>
              <a:rPr lang="en-US" sz="300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do Polaris.</a:t>
            </a: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endParaRPr lang="en-US" sz="3000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63213" y="1263226"/>
            <a:ext cx="14716357" cy="2567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24"/>
              </a:lnSpc>
              <a:spcBef>
                <a:spcPct val="0"/>
              </a:spcBef>
            </a:pPr>
            <a:r>
              <a:rPr lang="en-US" sz="1466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Agradecimentos</a:t>
            </a:r>
            <a:endParaRPr lang="en-US" sz="14660" b="1" dirty="0">
              <a:solidFill>
                <a:srgbClr val="6D124A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263213" y="3830823"/>
            <a:ext cx="14716357" cy="0"/>
          </a:xfrm>
          <a:prstGeom prst="line">
            <a:avLst/>
          </a:prstGeom>
          <a:ln w="142875" cap="flat">
            <a:solidFill>
              <a:srgbClr val="6D12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30706" y="-5303920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2" y="0"/>
                </a:lnTo>
                <a:lnTo>
                  <a:pt x="8061412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019626" y="5254720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2263213" y="1263226"/>
            <a:ext cx="14716357" cy="2567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24"/>
              </a:lnSpc>
              <a:spcBef>
                <a:spcPct val="0"/>
              </a:spcBef>
            </a:pPr>
            <a:r>
              <a:rPr lang="en-US" sz="14660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Anexos</a:t>
            </a:r>
            <a:r>
              <a:rPr lang="en-US" sz="14660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5" name="AutoShape 5"/>
          <p:cNvSpPr/>
          <p:nvPr/>
        </p:nvSpPr>
        <p:spPr>
          <a:xfrm>
            <a:off x="2263213" y="3830823"/>
            <a:ext cx="14716357" cy="0"/>
          </a:xfrm>
          <a:prstGeom prst="line">
            <a:avLst/>
          </a:prstGeom>
          <a:ln w="142875" cap="flat">
            <a:solidFill>
              <a:srgbClr val="6D12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065" y="5325342"/>
            <a:ext cx="3929326" cy="3929326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054502" y="4996338"/>
            <a:ext cx="2576452" cy="45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41"/>
              </a:lnSpc>
              <a:spcBef>
                <a:spcPct val="0"/>
              </a:spcBef>
            </a:pPr>
            <a:r>
              <a:rPr lang="en-US" sz="252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  <a:hlinkClick r:id="rId4" tooltip="https://github.com/claranogrmoura/Polaris?classId=5b1b160a-1520-4744-bac9-7a41564ea129&amp;assignmentId=f2d776c3-40bc-4f1e-8b59-aa12df22a258&amp;submissionId=52523479-b0ff-5b38-b72c-f6b7d6513f3d"/>
              </a:rPr>
              <a:t>GitHub do </a:t>
            </a:r>
            <a:r>
              <a:rPr lang="en-US" sz="252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  <a:hlinkClick r:id="rId4" tooltip="https://github.com/claranogrmoura/Polaris?classId=5b1b160a-1520-4744-bac9-7a41564ea129&amp;assignmentId=f2d776c3-40bc-4f1e-8b59-aa12df22a258&amp;submissionId=52523479-b0ff-5b38-b72c-f6b7d6513f3d"/>
              </a:rPr>
              <a:t>Projeto</a:t>
            </a:r>
            <a:endParaRPr lang="en-US" sz="2529" dirty="0">
              <a:solidFill>
                <a:srgbClr val="6D124A"/>
              </a:solidFill>
              <a:latin typeface="Arimo"/>
              <a:ea typeface="Arimo"/>
              <a:cs typeface="Arimo"/>
              <a:sym typeface="Arimo"/>
              <a:hlinkClick r:id="rId4" tooltip="https://github.com/claranogrmoura/Polaris?classId=5b1b160a-1520-4744-bac9-7a41564ea129&amp;assignmentId=f2d776c3-40bc-4f1e-8b59-aa12df22a258&amp;submissionId=52523479-b0ff-5b38-b72c-f6b7d6513f3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50126" y="9070099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1675" y="5390211"/>
            <a:ext cx="3858559" cy="385855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019626" y="4996338"/>
            <a:ext cx="3166179" cy="45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41"/>
              </a:lnSpc>
              <a:spcBef>
                <a:spcPct val="0"/>
              </a:spcBef>
            </a:pPr>
            <a:r>
              <a:rPr lang="en-US" sz="252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  <a:hlinkClick r:id="rId6" tooltip="https://docs.google.com/forms/d/e/1FAIpQLSfIf12AZBfcqmwASQ4t095ZopDgJYD2Rogi-2RdHr--D1zrHw/viewform?usp=header"/>
              </a:rPr>
              <a:t>Formulário</a:t>
            </a:r>
            <a:r>
              <a:rPr lang="en-US" sz="2529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  <a:hlinkClick r:id="rId6" tooltip="https://docs.google.com/forms/d/e/1FAIpQLSfIf12AZBfcqmwASQ4t095ZopDgJYD2Rogi-2RdHr--D1zrHw/viewform?usp=header"/>
              </a:rPr>
              <a:t> do </a:t>
            </a:r>
            <a:r>
              <a:rPr lang="en-US" sz="2529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  <a:hlinkClick r:id="rId6" tooltip="https://docs.google.com/forms/d/e/1FAIpQLSfIf12AZBfcqmwASQ4t095ZopDgJYD2Rogi-2RdHr--D1zrHw/viewform?usp=header"/>
              </a:rPr>
              <a:t>Projeto</a:t>
            </a:r>
            <a:endParaRPr lang="en-US" sz="2529" dirty="0">
              <a:solidFill>
                <a:srgbClr val="6D124A"/>
              </a:solidFill>
              <a:latin typeface="Arimo"/>
              <a:ea typeface="Arimo"/>
              <a:cs typeface="Arimo"/>
              <a:sym typeface="Arimo"/>
              <a:hlinkClick r:id="rId6" tooltip="https://docs.google.com/forms/d/e/1FAIpQLSfIf12AZBfcqmwASQ4t095ZopDgJYD2Rogi-2RdHr--D1zrHw/viewform?usp=head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498140" y="9070099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8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65096" y="-5782554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4755189" y="6605089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5196578" y="2655523"/>
            <a:ext cx="6913157" cy="6352526"/>
            <a:chOff x="0" y="0"/>
            <a:chExt cx="9217543" cy="847003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17543" cy="8470035"/>
              <a:chOff x="0" y="0"/>
              <a:chExt cx="1871084" cy="171934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871084" cy="1719346"/>
              </a:xfrm>
              <a:custGeom>
                <a:avLst/>
                <a:gdLst/>
                <a:ahLst/>
                <a:cxnLst/>
                <a:rect l="l" t="t" r="r" b="b"/>
                <a:pathLst>
                  <a:path w="1871084" h="1719346">
                    <a:moveTo>
                      <a:pt x="57114" y="0"/>
                    </a:moveTo>
                    <a:lnTo>
                      <a:pt x="1813970" y="0"/>
                    </a:lnTo>
                    <a:cubicBezTo>
                      <a:pt x="1829117" y="0"/>
                      <a:pt x="1843645" y="6017"/>
                      <a:pt x="1854356" y="16728"/>
                    </a:cubicBezTo>
                    <a:cubicBezTo>
                      <a:pt x="1865067" y="27439"/>
                      <a:pt x="1871084" y="41966"/>
                      <a:pt x="1871084" y="57114"/>
                    </a:cubicBezTo>
                    <a:lnTo>
                      <a:pt x="1871084" y="1662232"/>
                    </a:lnTo>
                    <a:cubicBezTo>
                      <a:pt x="1871084" y="1693775"/>
                      <a:pt x="1845513" y="1719346"/>
                      <a:pt x="1813970" y="1719346"/>
                    </a:cubicBezTo>
                    <a:lnTo>
                      <a:pt x="57114" y="1719346"/>
                    </a:lnTo>
                    <a:cubicBezTo>
                      <a:pt x="25571" y="1719346"/>
                      <a:pt x="0" y="1693775"/>
                      <a:pt x="0" y="1662232"/>
                    </a:cubicBezTo>
                    <a:lnTo>
                      <a:pt x="0" y="57114"/>
                    </a:lnTo>
                    <a:cubicBezTo>
                      <a:pt x="0" y="25571"/>
                      <a:pt x="25571" y="0"/>
                      <a:pt x="57114" y="0"/>
                    </a:cubicBezTo>
                    <a:close/>
                  </a:path>
                </a:pathLst>
              </a:custGeom>
              <a:solidFill>
                <a:srgbClr val="C563F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871084" cy="1757446"/>
              </a:xfrm>
              <a:prstGeom prst="rect">
                <a:avLst/>
              </a:prstGeom>
            </p:spPr>
            <p:txBody>
              <a:bodyPr lIns="49433" tIns="49433" rIns="49433" bIns="49433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734758" y="300091"/>
              <a:ext cx="7748028" cy="7869853"/>
            </a:xfrm>
            <a:custGeom>
              <a:avLst/>
              <a:gdLst/>
              <a:ahLst/>
              <a:cxnLst/>
              <a:rect l="l" t="t" r="r" b="b"/>
              <a:pathLst>
                <a:path w="7748028" h="7869853">
                  <a:moveTo>
                    <a:pt x="0" y="0"/>
                  </a:moveTo>
                  <a:lnTo>
                    <a:pt x="7748028" y="0"/>
                  </a:lnTo>
                  <a:lnTo>
                    <a:pt x="7748028" y="7869853"/>
                  </a:lnTo>
                  <a:lnTo>
                    <a:pt x="0" y="7869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054849" y="9633808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6578" y="550099"/>
            <a:ext cx="7894843" cy="84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53"/>
              </a:lnSpc>
              <a:spcBef>
                <a:spcPct val="0"/>
              </a:spcBef>
            </a:pPr>
            <a:r>
              <a:rPr lang="en-US" sz="4823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Diagrama</a:t>
            </a:r>
            <a:r>
              <a:rPr lang="en-US" sz="4823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da Caso de Uso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49725" y="2069402"/>
            <a:ext cx="4606865" cy="38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47"/>
              </a:lnSpc>
              <a:spcBef>
                <a:spcPct val="0"/>
              </a:spcBef>
            </a:pPr>
            <a:r>
              <a:rPr lang="en-US" sz="2176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Figura</a:t>
            </a:r>
            <a:r>
              <a:rPr lang="en-US" sz="2176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5: </a:t>
            </a:r>
            <a:r>
              <a:rPr lang="en-US" sz="2176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Diagrama</a:t>
            </a:r>
            <a:r>
              <a:rPr lang="en-US" sz="2176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da Caso de Uso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65096" y="-5782554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4755189" y="6605089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4123430" y="3259119"/>
            <a:ext cx="9476597" cy="5482962"/>
            <a:chOff x="0" y="0"/>
            <a:chExt cx="12635462" cy="731061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2635462" cy="7310617"/>
              <a:chOff x="0" y="0"/>
              <a:chExt cx="2345443" cy="13570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345443" cy="1357025"/>
              </a:xfrm>
              <a:custGeom>
                <a:avLst/>
                <a:gdLst/>
                <a:ahLst/>
                <a:cxnLst/>
                <a:rect l="l" t="t" r="r" b="b"/>
                <a:pathLst>
                  <a:path w="2345443" h="1357025">
                    <a:moveTo>
                      <a:pt x="41665" y="0"/>
                    </a:moveTo>
                    <a:lnTo>
                      <a:pt x="2303778" y="0"/>
                    </a:lnTo>
                    <a:cubicBezTo>
                      <a:pt x="2326789" y="0"/>
                      <a:pt x="2345443" y="18654"/>
                      <a:pt x="2345443" y="41665"/>
                    </a:cubicBezTo>
                    <a:lnTo>
                      <a:pt x="2345443" y="1315360"/>
                    </a:lnTo>
                    <a:cubicBezTo>
                      <a:pt x="2345443" y="1338371"/>
                      <a:pt x="2326789" y="1357025"/>
                      <a:pt x="2303778" y="1357025"/>
                    </a:cubicBezTo>
                    <a:lnTo>
                      <a:pt x="41665" y="1357025"/>
                    </a:lnTo>
                    <a:cubicBezTo>
                      <a:pt x="18654" y="1357025"/>
                      <a:pt x="0" y="1338371"/>
                      <a:pt x="0" y="1315360"/>
                    </a:cubicBezTo>
                    <a:lnTo>
                      <a:pt x="0" y="41665"/>
                    </a:lnTo>
                    <a:cubicBezTo>
                      <a:pt x="0" y="18654"/>
                      <a:pt x="18654" y="0"/>
                      <a:pt x="41665" y="0"/>
                    </a:cubicBezTo>
                    <a:close/>
                  </a:path>
                </a:pathLst>
              </a:custGeom>
              <a:solidFill>
                <a:srgbClr val="C563F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345443" cy="1395125"/>
              </a:xfrm>
              <a:prstGeom prst="rect">
                <a:avLst/>
              </a:prstGeom>
            </p:spPr>
            <p:txBody>
              <a:bodyPr lIns="54059" tIns="54059" rIns="54059" bIns="54059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533993" y="516939"/>
              <a:ext cx="11567477" cy="6276739"/>
            </a:xfrm>
            <a:custGeom>
              <a:avLst/>
              <a:gdLst/>
              <a:ahLst/>
              <a:cxnLst/>
              <a:rect l="l" t="t" r="r" b="b"/>
              <a:pathLst>
                <a:path w="11567477" h="6276739">
                  <a:moveTo>
                    <a:pt x="0" y="0"/>
                  </a:moveTo>
                  <a:lnTo>
                    <a:pt x="11567477" y="0"/>
                  </a:lnTo>
                  <a:lnTo>
                    <a:pt x="11567477" y="6276739"/>
                  </a:lnTo>
                  <a:lnTo>
                    <a:pt x="0" y="627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63420" y="9500942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Elaborado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528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pelo</a:t>
            </a:r>
            <a:r>
              <a:rPr lang="en-US" sz="2528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Autor(2025)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6578" y="914400"/>
            <a:ext cx="7894843" cy="84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53"/>
              </a:lnSpc>
              <a:spcBef>
                <a:spcPct val="0"/>
              </a:spcBef>
            </a:pPr>
            <a:r>
              <a:rPr lang="en-US" sz="4823" b="1" dirty="0" err="1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Diagrama</a:t>
            </a:r>
            <a:r>
              <a:rPr lang="en-US" sz="4823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 de Classe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55172" y="2286130"/>
            <a:ext cx="3813113" cy="38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47"/>
              </a:lnSpc>
              <a:spcBef>
                <a:spcPct val="0"/>
              </a:spcBef>
            </a:pPr>
            <a:r>
              <a:rPr lang="en-US" sz="2176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Figura</a:t>
            </a:r>
            <a:r>
              <a:rPr lang="en-US" sz="2176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6: </a:t>
            </a:r>
            <a:r>
              <a:rPr lang="en-US" sz="2176" dirty="0" err="1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Diagrama</a:t>
            </a:r>
            <a:r>
              <a:rPr lang="en-US" sz="2176" dirty="0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 de Classe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65096" y="-5782554"/>
            <a:ext cx="8061411" cy="9134743"/>
          </a:xfrm>
          <a:custGeom>
            <a:avLst/>
            <a:gdLst/>
            <a:ahLst/>
            <a:cxnLst/>
            <a:rect l="l" t="t" r="r" b="b"/>
            <a:pathLst>
              <a:path w="8061411" h="9134743">
                <a:moveTo>
                  <a:pt x="0" y="0"/>
                </a:moveTo>
                <a:lnTo>
                  <a:pt x="8061411" y="0"/>
                </a:lnTo>
                <a:lnTo>
                  <a:pt x="8061411" y="9134743"/>
                </a:lnTo>
                <a:lnTo>
                  <a:pt x="0" y="9134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4755189" y="6605089"/>
            <a:ext cx="7919887" cy="8974376"/>
          </a:xfrm>
          <a:custGeom>
            <a:avLst/>
            <a:gdLst/>
            <a:ahLst/>
            <a:cxnLst/>
            <a:rect l="l" t="t" r="r" b="b"/>
            <a:pathLst>
              <a:path w="7919887" h="8974376">
                <a:moveTo>
                  <a:pt x="0" y="0"/>
                </a:moveTo>
                <a:lnTo>
                  <a:pt x="7919887" y="0"/>
                </a:lnTo>
                <a:lnTo>
                  <a:pt x="7919887" y="8974376"/>
                </a:lnTo>
                <a:lnTo>
                  <a:pt x="0" y="897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6263420" y="9500942"/>
            <a:ext cx="5761160" cy="45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0"/>
              </a:lnSpc>
              <a:spcBef>
                <a:spcPct val="0"/>
              </a:spcBef>
            </a:pPr>
            <a:r>
              <a:rPr lang="en-US" sz="2528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Fonte: Elaborado pelo Autor(2025)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447727" y="3108304"/>
            <a:ext cx="6828002" cy="6024149"/>
            <a:chOff x="0" y="0"/>
            <a:chExt cx="9104002" cy="803219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104002" cy="8032199"/>
              <a:chOff x="0" y="0"/>
              <a:chExt cx="1689920" cy="14909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920" cy="1490967"/>
              </a:xfrm>
              <a:custGeom>
                <a:avLst/>
                <a:gdLst/>
                <a:ahLst/>
                <a:cxnLst/>
                <a:rect l="l" t="t" r="r" b="b"/>
                <a:pathLst>
                  <a:path w="1689920" h="1490967">
                    <a:moveTo>
                      <a:pt x="57826" y="0"/>
                    </a:moveTo>
                    <a:lnTo>
                      <a:pt x="1632093" y="0"/>
                    </a:lnTo>
                    <a:cubicBezTo>
                      <a:pt x="1647430" y="0"/>
                      <a:pt x="1662138" y="6092"/>
                      <a:pt x="1672983" y="16937"/>
                    </a:cubicBezTo>
                    <a:cubicBezTo>
                      <a:pt x="1683827" y="27781"/>
                      <a:pt x="1689920" y="42490"/>
                      <a:pt x="1689920" y="57826"/>
                    </a:cubicBezTo>
                    <a:lnTo>
                      <a:pt x="1689920" y="1433141"/>
                    </a:lnTo>
                    <a:cubicBezTo>
                      <a:pt x="1689920" y="1448478"/>
                      <a:pt x="1683827" y="1463186"/>
                      <a:pt x="1672983" y="1474030"/>
                    </a:cubicBezTo>
                    <a:cubicBezTo>
                      <a:pt x="1662138" y="1484875"/>
                      <a:pt x="1647430" y="1490967"/>
                      <a:pt x="1632093" y="1490967"/>
                    </a:cubicBezTo>
                    <a:lnTo>
                      <a:pt x="57826" y="1490967"/>
                    </a:lnTo>
                    <a:cubicBezTo>
                      <a:pt x="42490" y="1490967"/>
                      <a:pt x="27781" y="1484875"/>
                      <a:pt x="16937" y="1474030"/>
                    </a:cubicBezTo>
                    <a:cubicBezTo>
                      <a:pt x="6092" y="1463186"/>
                      <a:pt x="0" y="1448478"/>
                      <a:pt x="0" y="1433141"/>
                    </a:cubicBezTo>
                    <a:lnTo>
                      <a:pt x="0" y="57826"/>
                    </a:lnTo>
                    <a:cubicBezTo>
                      <a:pt x="0" y="42490"/>
                      <a:pt x="6092" y="27781"/>
                      <a:pt x="16937" y="16937"/>
                    </a:cubicBezTo>
                    <a:cubicBezTo>
                      <a:pt x="27781" y="6092"/>
                      <a:pt x="42490" y="0"/>
                      <a:pt x="57826" y="0"/>
                    </a:cubicBezTo>
                    <a:close/>
                  </a:path>
                </a:pathLst>
              </a:custGeom>
              <a:solidFill>
                <a:srgbClr val="C563F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689920" cy="1529067"/>
              </a:xfrm>
              <a:prstGeom prst="rect">
                <a:avLst/>
              </a:prstGeom>
            </p:spPr>
            <p:txBody>
              <a:bodyPr lIns="54059" tIns="54059" rIns="54059" bIns="54059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695059" y="300839"/>
              <a:ext cx="7713885" cy="7369838"/>
            </a:xfrm>
            <a:custGeom>
              <a:avLst/>
              <a:gdLst/>
              <a:ahLst/>
              <a:cxnLst/>
              <a:rect l="l" t="t" r="r" b="b"/>
              <a:pathLst>
                <a:path w="7713885" h="7369838">
                  <a:moveTo>
                    <a:pt x="0" y="0"/>
                  </a:moveTo>
                  <a:lnTo>
                    <a:pt x="7713885" y="0"/>
                  </a:lnTo>
                  <a:lnTo>
                    <a:pt x="7713885" y="7369839"/>
                  </a:lnTo>
                  <a:lnTo>
                    <a:pt x="0" y="736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422984" y="1062228"/>
            <a:ext cx="2877489" cy="84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53"/>
              </a:lnSpc>
              <a:spcBef>
                <a:spcPct val="0"/>
              </a:spcBef>
            </a:pPr>
            <a:r>
              <a:rPr lang="en-US" sz="4823" b="1" dirty="0">
                <a:solidFill>
                  <a:srgbClr val="6D124A"/>
                </a:solidFill>
                <a:latin typeface="Arimo Bold"/>
                <a:ea typeface="Arimo Bold"/>
                <a:cs typeface="Arimo Bold"/>
                <a:sym typeface="Arimo Bold"/>
              </a:rPr>
              <a:t>Mer e 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3619" y="2283144"/>
            <a:ext cx="2456218" cy="38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6D124A"/>
                </a:solidFill>
                <a:latin typeface="Arimo"/>
                <a:ea typeface="Arimo"/>
                <a:cs typeface="Arimo"/>
                <a:sym typeface="Arimo"/>
              </a:rPr>
              <a:t>Figura 7: Mer e Der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603</Words>
  <Application>Microsoft Office PowerPoint</Application>
  <PresentationFormat>Personalizar</PresentationFormat>
  <Paragraphs>61</Paragraphs>
  <Slides>17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Calibri</vt:lpstr>
      <vt:lpstr>Arial</vt:lpstr>
      <vt:lpstr>Arimo Bold</vt:lpstr>
      <vt:lpstr>Arimo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Polaris</dc:title>
  <cp:lastModifiedBy>ENZO ALVES MATOS</cp:lastModifiedBy>
  <cp:revision>2</cp:revision>
  <dcterms:created xsi:type="dcterms:W3CDTF">2006-08-16T00:00:00Z</dcterms:created>
  <dcterms:modified xsi:type="dcterms:W3CDTF">2025-11-17T01:13:31Z</dcterms:modified>
  <dc:identifier>DAG2jt6mvrw</dc:identifier>
</cp:coreProperties>
</file>